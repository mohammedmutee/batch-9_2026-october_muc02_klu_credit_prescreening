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0789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2A78D6"/>
                </a:solidFill>
                <a:latin typeface="Calibri"/>
              </a:rPr>
              <a:t>CALIBO AI ACADEMY  ·  PATH 2  ·  KLU BATCH  ·  PHASE 2, MINI USE CASE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81328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 i="0">
                <a:solidFill>
                  <a:srgbClr val="0B0B0B"/>
                </a:solidFill>
                <a:latin typeface="Calibri"/>
              </a:rPr>
              <a:t>Credit Pre-Screening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95728"/>
            <a:ext cx="10515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0">
                <a:solidFill>
                  <a:srgbClr val="6B6964"/>
                </a:solidFill>
                <a:latin typeface="Calibri"/>
              </a:rPr>
              <a:t>Loan Intake Optimisation  ·  BFSI — Retail Lending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999232"/>
            <a:ext cx="1737360" cy="4114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310128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700" b="0" i="1">
                <a:solidFill>
                  <a:srgbClr val="3A3937"/>
                </a:solidFill>
                <a:latin typeface="Calibri"/>
              </a:rPr>
              <a:t>Can six months of our own decisions tell us which loan applications</a:t>
            </a:r>
          </a:p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700" b="0" i="1">
                <a:solidFill>
                  <a:srgbClr val="3A3937"/>
                </a:solidFill>
                <a:latin typeface="Calibri"/>
              </a:rPr>
              <a:t>we never needed to read?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389120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Calibri"/>
              </a:rPr>
              <a:t>BATCH 9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4700016"/>
            <a:ext cx="9966960" cy="329184"/>
          </a:xfrm>
          <a:prstGeom prst="rect">
            <a:avLst/>
          </a:prstGeom>
          <a:solidFill>
            <a:srgbClr val="F4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4750307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B0B0B"/>
                </a:solidFill>
                <a:latin typeface="Calibri"/>
              </a:rPr>
              <a:t>Mohammed Mutee Ruknuddin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4750307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1D5AA8"/>
                </a:solidFill>
                <a:latin typeface="Calibri"/>
              </a:rPr>
              <a:t>Data Analyst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750307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6B6964"/>
                </a:solidFill>
                <a:latin typeface="Calibri"/>
              </a:rPr>
              <a:t>Cleaning · CBIM Canvas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5079492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B0B0B"/>
                </a:solidFill>
                <a:latin typeface="Calibri"/>
              </a:rPr>
              <a:t>Mohammed Saalif Udyawar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5079492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1D5AA8"/>
                </a:solidFill>
                <a:latin typeface="Calibri"/>
              </a:rPr>
              <a:t>Insights Analyst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5079492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6B6964"/>
                </a:solidFill>
                <a:latin typeface="Calibri"/>
              </a:rPr>
              <a:t>Approval drivers · Affordability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5358384"/>
            <a:ext cx="9966960" cy="329184"/>
          </a:xfrm>
          <a:prstGeom prst="rect">
            <a:avLst/>
          </a:prstGeom>
          <a:solidFill>
            <a:srgbClr val="F4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5408676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B0B0B"/>
                </a:solidFill>
                <a:latin typeface="Calibri"/>
              </a:rPr>
              <a:t>Mulla Javeed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54086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1D5AA8"/>
                </a:solidFill>
                <a:latin typeface="Calibri"/>
              </a:rPr>
              <a:t>Model Builder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5408676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6B6964"/>
                </a:solidFill>
                <a:latin typeface="Calibri"/>
              </a:rPr>
              <a:t>Logistic regression · Threshold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5737860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B0B0B"/>
                </a:solidFill>
                <a:latin typeface="Calibri"/>
              </a:rPr>
              <a:t>Nagothu Varshitha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5737860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1D5AA8"/>
                </a:solidFill>
                <a:latin typeface="Calibri"/>
              </a:rPr>
              <a:t>Policy Synthesiser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737860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6B6964"/>
                </a:solidFill>
                <a:latin typeface="Calibri"/>
              </a:rPr>
              <a:t>Fairness · Credit Policy Briefing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6217920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B5B3AC"/>
                </a:solidFill>
                <a:latin typeface="Calibri"/>
              </a:rPr>
              <a:t>27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A78D6"/>
                </a:solidFill>
                <a:latin typeface="Calibri"/>
              </a:rPr>
              <a:t>THE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A day inside the lending unit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88719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6B6964"/>
                </a:solidFill>
                <a:latin typeface="Calibri"/>
              </a:rPr>
              <a:t>Where this use case begins — before any data, any model, any code.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45919"/>
            <a:ext cx="1371600" cy="34747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920239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50" b="0" i="0">
                <a:solidFill>
                  <a:srgbClr val="0B0B0B"/>
                </a:solidFill>
                <a:latin typeface="Calibri"/>
              </a:rPr>
              <a:t>A mid-size private bank lends unsecured personal loans across India — to salaried staff, self-employed professionals, small business owners and gig workers, in metros and in Tier 2 and Tier 3 towns.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550" b="0" i="0">
                <a:solidFill>
                  <a:srgbClr val="0B0B0B"/>
                </a:solidFill>
                <a:latin typeface="Calibri"/>
              </a:rPr>
              <a:t>Every month about </a:t>
            </a:r>
            <a:r>
              <a:rPr sz="1550" b="1" i="0">
                <a:solidFill>
                  <a:srgbClr val="0B0B0B"/>
                </a:solidFill>
                <a:latin typeface="Calibri"/>
              </a:rPr>
              <a:t>3,000 applications</a:t>
            </a:r>
            <a:r>
              <a:rPr sz="1550" b="0" i="0">
                <a:solidFill>
                  <a:srgbClr val="0B0B0B"/>
                </a:solidFill>
                <a:latin typeface="Calibri"/>
              </a:rPr>
              <a:t> arrive. And every single one of them is opened, read and judged by a human credit analyst. That takes about </a:t>
            </a:r>
            <a:r>
              <a:rPr sz="1550" b="1" i="0">
                <a:solidFill>
                  <a:srgbClr val="0B0B0B"/>
                </a:solidFill>
                <a:latin typeface="Calibri"/>
              </a:rPr>
              <a:t>25 minutes</a:t>
            </a:r>
            <a:r>
              <a:rPr sz="1550" b="0" i="0">
                <a:solidFill>
                  <a:srgbClr val="0B0B0B"/>
                </a:solidFill>
                <a:latin typeface="Calibri"/>
              </a:rPr>
              <a:t> each.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38144"/>
            <a:ext cx="2627299" cy="1261872"/>
          </a:xfrm>
          <a:prstGeom prst="roundRect">
            <a:avLst>
              <a:gd name="adj" fmla="val 7000"/>
            </a:avLst>
          </a:prstGeom>
          <a:solidFill>
            <a:srgbClr val="F4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3593591"/>
            <a:ext cx="237126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300" b="1" i="0">
                <a:solidFill>
                  <a:srgbClr val="1D5AA8"/>
                </a:solidFill>
                <a:latin typeface="Calibri"/>
              </a:rPr>
              <a:t>3,000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069079"/>
            <a:ext cx="2444419" cy="603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6964"/>
                </a:solidFill>
                <a:latin typeface="Calibri"/>
              </a:rPr>
              <a:t>applications arrive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6964"/>
                </a:solidFill>
                <a:latin typeface="Calibri"/>
              </a:rPr>
              <a:t>every month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7107" y="3438144"/>
            <a:ext cx="2627299" cy="1261872"/>
          </a:xfrm>
          <a:prstGeom prst="roundRect">
            <a:avLst>
              <a:gd name="adj" fmla="val 7000"/>
            </a:avLst>
          </a:prstGeom>
          <a:solidFill>
            <a:srgbClr val="F4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5123" y="3593591"/>
            <a:ext cx="237126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300" b="1" i="0">
                <a:solidFill>
                  <a:srgbClr val="1D5AA8"/>
                </a:solidFill>
                <a:latin typeface="Calibri"/>
              </a:rPr>
              <a:t>25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8547" y="4069079"/>
            <a:ext cx="2444419" cy="603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6964"/>
                </a:solidFill>
                <a:latin typeface="Calibri"/>
              </a:rPr>
              <a:t>manual review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6964"/>
                </a:solidFill>
                <a:latin typeface="Calibri"/>
              </a:rPr>
              <a:t>for every 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7287" y="3438144"/>
            <a:ext cx="2627299" cy="1261872"/>
          </a:xfrm>
          <a:prstGeom prst="roundRect">
            <a:avLst>
              <a:gd name="adj" fmla="val 7000"/>
            </a:avLst>
          </a:prstGeom>
          <a:solidFill>
            <a:srgbClr val="F4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5303" y="3593591"/>
            <a:ext cx="237126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300" b="1" i="0">
                <a:solidFill>
                  <a:srgbClr val="1D5AA8"/>
                </a:solidFill>
                <a:latin typeface="Calibri"/>
              </a:rPr>
              <a:t>1,250 hrs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8727" y="4069079"/>
            <a:ext cx="2444419" cy="603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6964"/>
                </a:solidFill>
                <a:latin typeface="Calibri"/>
              </a:rPr>
              <a:t>analyst time spent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6964"/>
                </a:solidFill>
                <a:latin typeface="Calibri"/>
              </a:rPr>
              <a:t>each month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97467" y="3438144"/>
            <a:ext cx="2627299" cy="1261872"/>
          </a:xfrm>
          <a:prstGeom prst="roundRect">
            <a:avLst>
              <a:gd name="adj" fmla="val 7000"/>
            </a:avLst>
          </a:prstGeom>
          <a:solidFill>
            <a:srgbClr val="F4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5483" y="3593591"/>
            <a:ext cx="237126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300" b="1" i="0">
                <a:solidFill>
                  <a:srgbClr val="1D5AA8"/>
                </a:solidFill>
                <a:latin typeface="Calibri"/>
              </a:rPr>
              <a:t>47%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88907" y="4069079"/>
            <a:ext cx="2444419" cy="603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6964"/>
                </a:solidFill>
                <a:latin typeface="Calibri"/>
              </a:rPr>
              <a:t>of them end up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6B6964"/>
                </a:solidFill>
                <a:latin typeface="Calibri"/>
              </a:rPr>
              <a:t>declined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300155"/>
            <a:ext cx="11057839" cy="1054924"/>
          </a:xfrm>
          <a:prstGeom prst="roundRect">
            <a:avLst>
              <a:gd name="adj" fmla="val 500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5300155"/>
            <a:ext cx="50292" cy="10549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5419027"/>
            <a:ext cx="10692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2A78D6"/>
                </a:solidFill>
                <a:latin typeface="Calibri"/>
              </a:rPr>
              <a:t>PUT ANOTHER 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5656771"/>
            <a:ext cx="10673791" cy="5977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400" b="0" i="0">
                <a:solidFill>
                  <a:srgbClr val="3A3937"/>
                </a:solidFill>
                <a:latin typeface="Calibri"/>
              </a:rPr>
              <a:t>1,250 hours a month is roughly </a:t>
            </a:r>
            <a:r>
              <a:rPr sz="1400" b="1" i="0">
                <a:solidFill>
                  <a:srgbClr val="3A3937"/>
                </a:solidFill>
                <a:latin typeface="Calibri"/>
              </a:rPr>
              <a:t>eight full-time people doing nothing but reading application forms.</a:t>
            </a:r>
            <a:r>
              <a:rPr sz="1400" b="0" i="0">
                <a:solidFill>
                  <a:srgbClr val="3A3937"/>
                </a:solidFill>
                <a:latin typeface="Calibri"/>
              </a:rPr>
              <a:t> Half of what they read ends in a 'no'.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92240"/>
            <a:ext cx="12191695" cy="10972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565392"/>
            <a:ext cx="7680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B5B3AC"/>
                </a:solidFill>
                <a:latin typeface="Calibri"/>
              </a:rPr>
              <a:t>Batch 9  ·  MUC02 Credit Pre-Screening Engine   ·   Mohammed Mutee Ruknuddin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27487" y="656539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B5B3AC"/>
                </a:solidFill>
                <a:latin typeface="Calibri"/>
              </a:rP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A78D6"/>
                </a:solidFill>
                <a:latin typeface="Calibri"/>
              </a:rPr>
              <a:t>THE COMPLICATION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400" b="1" i="0">
                <a:solidFill>
                  <a:srgbClr val="0B0B0B"/>
                </a:solidFill>
                <a:latin typeface="Calibri"/>
              </a:rPr>
              <a:t>The problem is not the volume — it is what fills the queue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88719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6B6964"/>
                </a:solidFill>
                <a:latin typeface="Calibri"/>
              </a:rPr>
              <a:t>Most of the declined applications were never a judgement call.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45919"/>
            <a:ext cx="1371600" cy="34747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8" y="1961387"/>
            <a:ext cx="59436" cy="59436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883663"/>
            <a:ext cx="10753344" cy="571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450" b="0" i="0">
                <a:solidFill>
                  <a:srgbClr val="0B0B0B"/>
                </a:solidFill>
                <a:latin typeface="Calibri"/>
              </a:rPr>
              <a:t>Nearly </a:t>
            </a:r>
            <a:r>
              <a:rPr sz="1450" b="1" i="0">
                <a:solidFill>
                  <a:srgbClr val="0B0B0B"/>
                </a:solidFill>
                <a:latin typeface="Calibri"/>
              </a:rPr>
              <a:t>half of all applications are declined</a:t>
            </a:r>
            <a:r>
              <a:rPr sz="1450" b="0" i="0">
                <a:solidFill>
                  <a:srgbClr val="0B0B0B"/>
                </a:solidFill>
                <a:latin typeface="Calibri"/>
              </a:rPr>
              <a:t> — and a large share of those are decided inside the </a:t>
            </a:r>
            <a:r>
              <a:rPr sz="1450" b="1" i="0">
                <a:solidFill>
                  <a:srgbClr val="0B0B0B"/>
                </a:solidFill>
                <a:latin typeface="Calibri"/>
              </a:rPr>
              <a:t>first minute</a:t>
            </a:r>
            <a:r>
              <a:rPr sz="1450" b="0" i="0">
                <a:solidFill>
                  <a:srgbClr val="0B0B0B"/>
                </a:solidFill>
                <a:latin typeface="Calibri"/>
              </a:rPr>
              <a:t>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2624547"/>
            <a:ext cx="59436" cy="59436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546823"/>
            <a:ext cx="10753344" cy="571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450" b="0" i="0">
                <a:solidFill>
                  <a:srgbClr val="0B0B0B"/>
                </a:solidFill>
                <a:latin typeface="Calibri"/>
              </a:rPr>
              <a:t>The credit score is far below what the bank will accept, or the applicant's existing EMIs already swallow most of their income.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3287706"/>
            <a:ext cx="59436" cy="59436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3209982"/>
            <a:ext cx="10753344" cy="571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450" b="0" i="0">
                <a:solidFill>
                  <a:srgbClr val="0B0B0B"/>
                </a:solidFill>
                <a:latin typeface="Calibri"/>
              </a:rPr>
              <a:t>An analyst still spends the </a:t>
            </a:r>
            <a:r>
              <a:rPr sz="1450" b="1" i="0">
                <a:solidFill>
                  <a:srgbClr val="0B0B0B"/>
                </a:solidFill>
                <a:latin typeface="Calibri"/>
              </a:rPr>
              <a:t>full 25 minutes</a:t>
            </a:r>
            <a:r>
              <a:rPr sz="1450" b="0" i="0">
                <a:solidFill>
                  <a:srgbClr val="0B0B0B"/>
                </a:solidFill>
                <a:latin typeface="Calibri"/>
              </a:rPr>
              <a:t> on that file — opening it, checking it, writing it up, closing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56615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D5AA8"/>
                </a:solidFill>
                <a:latin typeface="Calibri"/>
              </a:rPr>
              <a:t>Three things go wrong because of this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840479"/>
            <a:ext cx="3564026" cy="1024128"/>
          </a:xfrm>
          <a:prstGeom prst="roundRect">
            <a:avLst>
              <a:gd name="adj" fmla="val 6000"/>
            </a:avLst>
          </a:prstGeom>
          <a:solidFill>
            <a:srgbClr val="F4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3840479"/>
            <a:ext cx="3564026" cy="4114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986783"/>
            <a:ext cx="31982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B0B0B"/>
                </a:solidFill>
                <a:latin typeface="Calibri"/>
              </a:rPr>
              <a:t>For the bank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261103"/>
            <a:ext cx="319826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3A3937"/>
                </a:solidFill>
                <a:latin typeface="Calibri"/>
              </a:rPr>
              <a:t>It cannot take more applications without hiring more analysts.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3834" y="3840479"/>
            <a:ext cx="3564026" cy="1024128"/>
          </a:xfrm>
          <a:prstGeom prst="roundRect">
            <a:avLst>
              <a:gd name="adj" fmla="val 6000"/>
            </a:avLst>
          </a:prstGeom>
          <a:solidFill>
            <a:srgbClr val="F4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3834" y="3840479"/>
            <a:ext cx="3564026" cy="4114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6714" y="3986783"/>
            <a:ext cx="31982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B0B0B"/>
                </a:solidFill>
                <a:latin typeface="Calibri"/>
              </a:rPr>
              <a:t>For the analysts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6714" y="4261103"/>
            <a:ext cx="319826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3A3937"/>
                </a:solidFill>
                <a:latin typeface="Calibri"/>
              </a:rPr>
              <a:t>Their day goes to obvious 'no's, not the borderline files that need a person.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60740" y="3840479"/>
            <a:ext cx="3564026" cy="1024128"/>
          </a:xfrm>
          <a:prstGeom prst="roundRect">
            <a:avLst>
              <a:gd name="adj" fmla="val 6000"/>
            </a:avLst>
          </a:prstGeom>
          <a:solidFill>
            <a:srgbClr val="F4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60740" y="3840479"/>
            <a:ext cx="3564026" cy="4114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43620" y="3986783"/>
            <a:ext cx="319826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B0B0B"/>
                </a:solidFill>
                <a:latin typeface="Calibri"/>
              </a:rPr>
              <a:t>For good customers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3620" y="4261103"/>
            <a:ext cx="319826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0" i="0">
                <a:solidFill>
                  <a:srgbClr val="3A3937"/>
                </a:solidFill>
                <a:latin typeface="Calibri"/>
              </a:rPr>
              <a:t>They wait behind applications nobody needed to read.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053724"/>
            <a:ext cx="11057839" cy="1301355"/>
          </a:xfrm>
          <a:prstGeom prst="roundRect">
            <a:avLst>
              <a:gd name="adj" fmla="val 5000"/>
            </a:avLst>
          </a:prstGeom>
          <a:solidFill>
            <a:srgbClr val="FF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5053724"/>
            <a:ext cx="50292" cy="1301355"/>
          </a:xfrm>
          <a:prstGeom prst="rect">
            <a:avLst/>
          </a:prstGeom>
          <a:solidFill>
            <a:srgbClr val="B87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5172596"/>
            <a:ext cx="10692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B87D0A"/>
                </a:solidFill>
                <a:latin typeface="Calibri"/>
              </a:rPr>
              <a:t>THE QUESTION THAT STARTED THIS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" y="5410340"/>
            <a:ext cx="10673791" cy="8441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350" b="0" i="0">
                <a:solidFill>
                  <a:srgbClr val="3A3937"/>
                </a:solidFill>
                <a:latin typeface="Calibri"/>
              </a:rPr>
              <a:t>“Can we use our own history to build a pre-screening model, so analysts spend their time on applications that genuinely need judgement?”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350" b="0" i="0">
                <a:solidFill>
                  <a:srgbClr val="3A3937"/>
                </a:solidFill>
                <a:latin typeface="Calibri"/>
              </a:rPr>
              <a:t>— the Head of Retail Lending, to the Credit Policy Analyst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92240"/>
            <a:ext cx="12191695" cy="10972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6565392"/>
            <a:ext cx="7680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B5B3AC"/>
                </a:solidFill>
                <a:latin typeface="Calibri"/>
              </a:rPr>
              <a:t>Batch 9  ·  MUC02 Credit Pre-Screening Engine   ·   Mohammed Mutee Ruknuddin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27487" y="656539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B5B3AC"/>
                </a:solidFill>
                <a:latin typeface="Calibri"/>
              </a:rP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A78D6"/>
                </a:solidFill>
                <a:latin typeface="Calibri"/>
              </a:rPr>
              <a:t>HOW WE FRAMED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CBIM Problem Canvas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88719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6B6964"/>
                </a:solidFill>
                <a:latin typeface="Calibri"/>
              </a:rPr>
              <a:t>Filled in together, in 20 minutes, before the dataset was opened.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45919"/>
            <a:ext cx="1371600" cy="34747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956815"/>
            <a:ext cx="3582314" cy="1993392"/>
          </a:xfrm>
          <a:prstGeom prst="roundRect">
            <a:avLst>
              <a:gd name="adj" fmla="val 5000"/>
            </a:avLst>
          </a:prstGeom>
          <a:solidFill>
            <a:srgbClr val="F4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956815"/>
            <a:ext cx="3582314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157984"/>
            <a:ext cx="317997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Calibri"/>
              </a:rPr>
              <a:t>SITUATION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468879"/>
            <a:ext cx="3179978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50" b="0" i="0">
                <a:solidFill>
                  <a:srgbClr val="3A3937"/>
                </a:solidFill>
                <a:latin typeface="Calibri"/>
              </a:rPr>
              <a:t>3,000 personal loan applications a month. Every one reviewed by hand, 25 minutes each — about 1,250 analyst hours.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4690" y="1956815"/>
            <a:ext cx="3582314" cy="1993392"/>
          </a:xfrm>
          <a:prstGeom prst="roundRect">
            <a:avLst>
              <a:gd name="adj" fmla="val 5000"/>
            </a:avLst>
          </a:prstGeom>
          <a:solidFill>
            <a:srgbClr val="F4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04690" y="1956815"/>
            <a:ext cx="3582314" cy="457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5858" y="2157984"/>
            <a:ext cx="317997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B6834"/>
                </a:solidFill>
                <a:latin typeface="Calibri"/>
              </a:rPr>
              <a:t>COMPLICATION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5858" y="2468879"/>
            <a:ext cx="3179978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50" b="0" i="0">
                <a:solidFill>
                  <a:srgbClr val="3A3937"/>
                </a:solidFill>
                <a:latin typeface="Calibri"/>
              </a:rPr>
              <a:t>47% are declined and many are obvious in a minute. Analyst time goes to clear-cut 'no's; good customers wait; the bank cannot grow without hiring.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2452" y="1956815"/>
            <a:ext cx="3582314" cy="1993392"/>
          </a:xfrm>
          <a:prstGeom prst="roundRect">
            <a:avLst>
              <a:gd name="adj" fmla="val 5000"/>
            </a:avLst>
          </a:prstGeom>
          <a:solidFill>
            <a:srgbClr val="F4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2452" y="1956815"/>
            <a:ext cx="3582314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3620" y="2157984"/>
            <a:ext cx="317997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Calibri"/>
              </a:rPr>
              <a:t>QUESTION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3620" y="2468879"/>
            <a:ext cx="3179978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50" b="0" i="0">
                <a:solidFill>
                  <a:srgbClr val="3A3937"/>
                </a:solidFill>
                <a:latin typeface="Calibri"/>
              </a:rPr>
              <a:t>Which applications can leave the manual queue automatically, at what confidence level, without wrongly declining more than 5% of customers we would have approved?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133087"/>
            <a:ext cx="3582314" cy="1993392"/>
          </a:xfrm>
          <a:prstGeom prst="roundRect">
            <a:avLst>
              <a:gd name="adj" fmla="val 5000"/>
            </a:avLst>
          </a:prstGeom>
          <a:solidFill>
            <a:srgbClr val="F4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4133087"/>
            <a:ext cx="3582314" cy="457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4334255"/>
            <a:ext cx="317997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B6834"/>
                </a:solidFill>
                <a:latin typeface="Calibri"/>
              </a:rPr>
              <a:t>SSOT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4645152"/>
            <a:ext cx="3179978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50" b="0" i="0">
                <a:solidFill>
                  <a:srgbClr val="3A3937"/>
                </a:solidFill>
                <a:latin typeface="Calibri"/>
              </a:rPr>
              <a:t>MUC02_Credit_PreScreening_Dataset.csv — 12,000 applications, Apr–Sep 2026. The 'decision' column is the credit team's past judgement, NOT whether the customer repaid.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04690" y="4133087"/>
            <a:ext cx="3582314" cy="1993392"/>
          </a:xfrm>
          <a:prstGeom prst="roundRect">
            <a:avLst>
              <a:gd name="adj" fmla="val 5000"/>
            </a:avLst>
          </a:prstGeom>
          <a:solidFill>
            <a:srgbClr val="F4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04690" y="4133087"/>
            <a:ext cx="3582314" cy="45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05858" y="4334255"/>
            <a:ext cx="317997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Calibri"/>
              </a:rPr>
              <a:t>SUCCESS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05858" y="4645152"/>
            <a:ext cx="3179978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50" b="0" i="0">
                <a:solidFill>
                  <a:srgbClr val="3A3937"/>
                </a:solidFill>
                <a:latin typeface="Calibri"/>
              </a:rPr>
              <a:t>Not accuracy. At most 5% of auto-declines may be people we would have approved — and the volume freed must be stated in applications and analyst hours per month.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2452" y="4133087"/>
            <a:ext cx="3582314" cy="1993392"/>
          </a:xfrm>
          <a:prstGeom prst="roundRect">
            <a:avLst>
              <a:gd name="adj" fmla="val 5000"/>
            </a:avLst>
          </a:prstGeom>
          <a:solidFill>
            <a:srgbClr val="F4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2452" y="4133087"/>
            <a:ext cx="3582314" cy="457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43620" y="4334255"/>
            <a:ext cx="317997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B6834"/>
                </a:solidFill>
                <a:latin typeface="Calibri"/>
              </a:rPr>
              <a:t>STAKEHOLDER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3620" y="4645152"/>
            <a:ext cx="3179978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50" b="0" i="0">
                <a:solidFill>
                  <a:srgbClr val="3A3937"/>
                </a:solidFill>
                <a:latin typeface="Calibri"/>
              </a:rPr>
              <a:t>The Credit Policy Analyst. Also affected: the Head of Retail Lending, the analysts whose queue changes, and the applicants declined without a human reading their file.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92240"/>
            <a:ext cx="12191695" cy="10972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6565392"/>
            <a:ext cx="7680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B5B3AC"/>
                </a:solidFill>
                <a:latin typeface="Calibri"/>
              </a:rPr>
              <a:t>Batch 9  ·  MUC02 Credit Pre-Screening Engine   ·   Mohammed Mutee Ruknuddin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27487" y="656539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B5B3AC"/>
                </a:solidFill>
                <a:latin typeface="Calibri"/>
              </a:rP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A78D6"/>
                </a:solidFill>
                <a:latin typeface="Calibri"/>
              </a:rPr>
              <a:t>OUR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Seven steps, four owners, one notebook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88719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6B6964"/>
                </a:solidFill>
                <a:latin typeface="Calibri"/>
              </a:rPr>
              <a:t>Each step is code plus a plain-English explanation of what it found.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45919"/>
            <a:ext cx="1371600" cy="34747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938527"/>
            <a:ext cx="1469963" cy="1152144"/>
          </a:xfrm>
          <a:prstGeom prst="roundRect">
            <a:avLst>
              <a:gd name="adj" fmla="val 700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066543"/>
            <a:ext cx="14699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2A78D6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441447"/>
            <a:ext cx="136023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3A3937"/>
                </a:solidFill>
                <a:latin typeface="Calibri"/>
              </a:rPr>
              <a:t>Clean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41463" y="2267711"/>
            <a:ext cx="1280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B5B3AC"/>
                </a:solidFill>
                <a:latin typeface="Calibri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64907" y="1938527"/>
            <a:ext cx="1469963" cy="1152144"/>
          </a:xfrm>
          <a:prstGeom prst="roundRect">
            <a:avLst>
              <a:gd name="adj" fmla="val 700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64907" y="2066543"/>
            <a:ext cx="14699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2A78D6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9771" y="2441447"/>
            <a:ext cx="136023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3A3937"/>
                </a:solidFill>
                <a:latin typeface="Calibri"/>
              </a:rPr>
              <a:t>Find the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3A3937"/>
                </a:solidFill>
                <a:latin typeface="Calibri"/>
              </a:rPr>
              <a:t>drivers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442" y="2267711"/>
            <a:ext cx="1280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B5B3AC"/>
                </a:solidFill>
                <a:latin typeface="Calibr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62886" y="1938527"/>
            <a:ext cx="1469963" cy="1152144"/>
          </a:xfrm>
          <a:prstGeom prst="roundRect">
            <a:avLst>
              <a:gd name="adj" fmla="val 700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62886" y="2066543"/>
            <a:ext cx="14699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2A78D6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7750" y="2441447"/>
            <a:ext cx="136023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3A3937"/>
                </a:solidFill>
                <a:latin typeface="Calibri"/>
              </a:rPr>
              <a:t>Build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3A3937"/>
                </a:solidFill>
                <a:latin typeface="Calibri"/>
              </a:rPr>
              <a:t>affordability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7421" y="2267711"/>
            <a:ext cx="1280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B5B3AC"/>
                </a:solidFill>
                <a:latin typeface="Calibri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60865" y="1938527"/>
            <a:ext cx="1469963" cy="1152144"/>
          </a:xfrm>
          <a:prstGeom prst="roundRect">
            <a:avLst>
              <a:gd name="adj" fmla="val 7000"/>
            </a:avLst>
          </a:prstGeom>
          <a:solidFill>
            <a:srgbClr val="FD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60865" y="2066543"/>
            <a:ext cx="14699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EB6834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15729" y="2441447"/>
            <a:ext cx="136023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3A3937"/>
                </a:solidFill>
                <a:latin typeface="Calibri"/>
              </a:rPr>
              <a:t>Train the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3A3937"/>
                </a:solidFill>
                <a:latin typeface="Calibri"/>
              </a:rPr>
              <a:t>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5401" y="2267711"/>
            <a:ext cx="1280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B5B3AC"/>
                </a:solidFill>
                <a:latin typeface="Calibri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58845" y="1938527"/>
            <a:ext cx="1469963" cy="1152144"/>
          </a:xfrm>
          <a:prstGeom prst="roundRect">
            <a:avLst>
              <a:gd name="adj" fmla="val 7000"/>
            </a:avLst>
          </a:prstGeom>
          <a:solidFill>
            <a:srgbClr val="FD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58845" y="2066543"/>
            <a:ext cx="14699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EB6834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3709" y="2441447"/>
            <a:ext cx="136023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3A3937"/>
                </a:solidFill>
                <a:latin typeface="Calibri"/>
              </a:rPr>
              <a:t>Choose the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3A3937"/>
                </a:solidFill>
                <a:latin typeface="Calibri"/>
              </a:rPr>
              <a:t>threshold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3380" y="2267711"/>
            <a:ext cx="1280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B5B3AC"/>
                </a:solidFill>
                <a:latin typeface="Calibri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56824" y="1938527"/>
            <a:ext cx="1469963" cy="1152144"/>
          </a:xfrm>
          <a:prstGeom prst="roundRect">
            <a:avLst>
              <a:gd name="adj" fmla="val 7000"/>
            </a:avLst>
          </a:prstGeom>
          <a:solidFill>
            <a:srgbClr val="E9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56824" y="2066543"/>
            <a:ext cx="14699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A8A3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11688" y="2441447"/>
            <a:ext cx="136023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3A3937"/>
                </a:solidFill>
                <a:latin typeface="Calibri"/>
              </a:rPr>
              <a:t>Check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3A3937"/>
                </a:solidFill>
                <a:latin typeface="Calibri"/>
              </a:rPr>
              <a:t>fairness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31359" y="2267711"/>
            <a:ext cx="1280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B5B3AC"/>
                </a:solidFill>
                <a:latin typeface="Calibri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154803" y="1938527"/>
            <a:ext cx="1469963" cy="1152144"/>
          </a:xfrm>
          <a:prstGeom prst="roundRect">
            <a:avLst>
              <a:gd name="adj" fmla="val 7000"/>
            </a:avLst>
          </a:prstGeom>
          <a:solidFill>
            <a:srgbClr val="E9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54803" y="2066543"/>
            <a:ext cx="14699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A8A3F"/>
                </a:solidFill>
                <a:latin typeface="Calibri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09667" y="2441447"/>
            <a:ext cx="136023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3A3937"/>
                </a:solidFill>
                <a:latin typeface="Calibri"/>
              </a:rPr>
              <a:t>Brief the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3A3937"/>
                </a:solidFill>
                <a:latin typeface="Calibri"/>
              </a:rPr>
              <a:t>bank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3310127"/>
            <a:ext cx="11057839" cy="365760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3360420"/>
            <a:ext cx="270878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1" i="0">
                <a:solidFill>
                  <a:srgbClr val="1D5AA8"/>
                </a:solidFill>
                <a:latin typeface="Calibri"/>
              </a:rPr>
              <a:t>Member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95757" y="3360420"/>
            <a:ext cx="1777603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1" i="0">
                <a:solidFill>
                  <a:srgbClr val="1D5AA8"/>
                </a:solidFill>
                <a:latin typeface="Calibri"/>
              </a:rPr>
              <a:t>Role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4528" y="3360420"/>
            <a:ext cx="131200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1" i="0">
                <a:solidFill>
                  <a:srgbClr val="1D5AA8"/>
                </a:solidFill>
                <a:latin typeface="Calibri"/>
              </a:rPr>
              <a:t>Steps owned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7706" y="3360420"/>
            <a:ext cx="445476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1" i="0">
                <a:solidFill>
                  <a:srgbClr val="1D5AA8"/>
                </a:solidFill>
                <a:latin typeface="Calibri"/>
              </a:rPr>
              <a:t>What they answered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3659428"/>
            <a:ext cx="11057839" cy="16459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3726179"/>
            <a:ext cx="27087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1" i="0">
                <a:solidFill>
                  <a:srgbClr val="0B0B0B"/>
                </a:solidFill>
                <a:latin typeface="Calibri"/>
              </a:rPr>
              <a:t>Mohammed Mutee Ruknuddin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5757" y="3726179"/>
            <a:ext cx="177760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0B0B0B"/>
                </a:solidFill>
                <a:latin typeface="Calibri"/>
              </a:rPr>
              <a:t>Data Analyst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74528" y="3726179"/>
            <a:ext cx="131200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0B0B0B"/>
                </a:solidFill>
                <a:latin typeface="Calibri"/>
              </a:rPr>
              <a:t>5.1 + Canvas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87706" y="3726179"/>
            <a:ext cx="44547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0B0B0B"/>
                </a:solidFill>
                <a:latin typeface="Calibri"/>
              </a:rPr>
              <a:t>Is the data honest enough to model?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" y="4078224"/>
            <a:ext cx="11057839" cy="402336"/>
          </a:xfrm>
          <a:prstGeom prst="rect">
            <a:avLst/>
          </a:prstGeom>
          <a:solidFill>
            <a:srgbClr val="F4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4128515"/>
            <a:ext cx="27087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1" i="0">
                <a:solidFill>
                  <a:srgbClr val="0B0B0B"/>
                </a:solidFill>
                <a:latin typeface="Calibri"/>
              </a:rPr>
              <a:t>Mohammed Saalif Udyawar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95757" y="4128515"/>
            <a:ext cx="177760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0B0B0B"/>
                </a:solidFill>
                <a:latin typeface="Calibri"/>
              </a:rPr>
              <a:t>Insights Analyst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74528" y="4128515"/>
            <a:ext cx="131200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0B0B0B"/>
                </a:solidFill>
                <a:latin typeface="Calibri"/>
              </a:rPr>
              <a:t>5.2, 5.3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87706" y="4128515"/>
            <a:ext cx="44547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0B0B0B"/>
                </a:solidFill>
                <a:latin typeface="Calibri"/>
              </a:rPr>
              <a:t>What does the credit team actually do today?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4530852"/>
            <a:ext cx="27087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1" i="0">
                <a:solidFill>
                  <a:srgbClr val="0B0B0B"/>
                </a:solidFill>
                <a:latin typeface="Calibri"/>
              </a:rPr>
              <a:t>Mulla Javeed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95757" y="4530852"/>
            <a:ext cx="177760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0B0B0B"/>
                </a:solidFill>
                <a:latin typeface="Calibri"/>
              </a:rPr>
              <a:t>Model Builder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74528" y="4530852"/>
            <a:ext cx="131200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0B0B0B"/>
                </a:solidFill>
                <a:latin typeface="Calibri"/>
              </a:rPr>
              <a:t>5.4, 5.5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87706" y="4530852"/>
            <a:ext cx="44547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0B0B0B"/>
                </a:solidFill>
                <a:latin typeface="Calibri"/>
              </a:rPr>
              <a:t>How far can a model be trusted, and where do we cut?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882896"/>
            <a:ext cx="11057839" cy="402336"/>
          </a:xfrm>
          <a:prstGeom prst="rect">
            <a:avLst/>
          </a:prstGeom>
          <a:solidFill>
            <a:srgbClr val="F4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5800" y="4933188"/>
            <a:ext cx="270878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1" i="0">
                <a:solidFill>
                  <a:srgbClr val="0B0B0B"/>
                </a:solidFill>
                <a:latin typeface="Calibri"/>
              </a:rPr>
              <a:t>Nagothu Varshitha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95757" y="4933188"/>
            <a:ext cx="177760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0B0B0B"/>
                </a:solidFill>
                <a:latin typeface="Calibri"/>
              </a:rPr>
              <a:t>Policy Synthesiser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74528" y="4933188"/>
            <a:ext cx="131200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0B0B0B"/>
                </a:solidFill>
                <a:latin typeface="Calibri"/>
              </a:rPr>
              <a:t>5.6, 5.7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87706" y="4933188"/>
            <a:ext cx="44547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50" b="0" i="0">
                <a:solidFill>
                  <a:srgbClr val="0B0B0B"/>
                </a:solidFill>
                <a:latin typeface="Calibri"/>
              </a:rPr>
              <a:t>Is it fair, and what do we tell the bank?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66928" y="5339583"/>
            <a:ext cx="11057839" cy="1015496"/>
          </a:xfrm>
          <a:prstGeom prst="roundRect">
            <a:avLst>
              <a:gd name="adj" fmla="val 500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66928" y="5339583"/>
            <a:ext cx="50292" cy="101549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8096" y="5458455"/>
            <a:ext cx="10692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2A78D6"/>
                </a:solidFill>
                <a:latin typeface="Calibri"/>
              </a:rPr>
              <a:t>WHY THE ORDER MATTERS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8096" y="5696199"/>
            <a:ext cx="10673791" cy="558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300" b="0" i="0">
                <a:solidFill>
                  <a:srgbClr val="3A3937"/>
                </a:solidFill>
                <a:latin typeface="Calibri"/>
              </a:rPr>
              <a:t>Everyone's section feeds the next one. The cleaning decides the features, the features decide the model, the model decides the threshold — and the briefing has to defend all four.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492240"/>
            <a:ext cx="12191695" cy="10972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66928" y="6565392"/>
            <a:ext cx="7680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B5B3AC"/>
                </a:solidFill>
                <a:latin typeface="Calibri"/>
              </a:rPr>
              <a:t>Batch 9  ·  MUC02 Credit Pre-Screening Engine   ·   Mohammed Mutee Ruknuddin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27487" y="656539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B5B3AC"/>
                </a:solidFill>
                <a:latin typeface="Calibri"/>
              </a:rP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A78D6"/>
                </a:solidFill>
                <a:latin typeface="Calibri"/>
              </a:rPr>
              <a:t>OWNED BY MUTEE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Step 1 — Three problems in the data, three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43584"/>
            <a:ext cx="1371600" cy="34747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5"/>
            <a:ext cx="11057839" cy="384048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1347"/>
            <a:ext cx="180934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1" i="0">
                <a:solidFill>
                  <a:srgbClr val="1D5AA8"/>
                </a:solidFill>
                <a:latin typeface="Calibri"/>
              </a:rPr>
              <a:t>What we found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6316" y="1641347"/>
            <a:ext cx="2905993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1" i="0">
                <a:solidFill>
                  <a:srgbClr val="1D5AA8"/>
                </a:solidFill>
                <a:latin typeface="Calibri"/>
              </a:rPr>
              <a:t>What it really was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3477" y="1641347"/>
            <a:ext cx="208350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1" i="0">
                <a:solidFill>
                  <a:srgbClr val="1D5AA8"/>
                </a:solidFill>
                <a:latin typeface="Calibri"/>
              </a:rPr>
              <a:t>What we did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8155" y="1641347"/>
            <a:ext cx="345431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1" i="0">
                <a:solidFill>
                  <a:srgbClr val="1D5AA8"/>
                </a:solidFill>
                <a:latin typeface="Calibri"/>
              </a:rPr>
              <a:t>Why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958644"/>
            <a:ext cx="11057839" cy="16459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025395"/>
            <a:ext cx="1809348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Calibri"/>
              </a:rPr>
              <a:t>441 missing incomes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6316" y="2025395"/>
            <a:ext cx="2905993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0" i="0">
                <a:solidFill>
                  <a:srgbClr val="0B0B0B"/>
                </a:solidFill>
                <a:latin typeface="Calibri"/>
              </a:rPr>
              <a:t>Not random — 13% of Business Owners and 11% of Self-Employed, but under 0.7% of Salaried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3477" y="2025395"/>
            <a:ext cx="2083509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0" i="0">
                <a:solidFill>
                  <a:srgbClr val="0B0B0B"/>
                </a:solidFill>
                <a:latin typeface="Calibri"/>
              </a:rPr>
              <a:t>Filled with the median income of that employment 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8155" y="2025395"/>
            <a:ext cx="3454316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0" i="0">
                <a:solidFill>
                  <a:srgbClr val="0B0B0B"/>
                </a:solidFill>
                <a:latin typeface="Calibri"/>
              </a:rPr>
              <a:t>Someone without a salary slip has no single clean number to declare. The gap is itself information.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999232"/>
            <a:ext cx="11057839" cy="1024128"/>
          </a:xfrm>
          <a:prstGeom prst="rect">
            <a:avLst/>
          </a:prstGeom>
          <a:solidFill>
            <a:srgbClr val="F4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049524"/>
            <a:ext cx="1809348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Calibri"/>
              </a:rPr>
              <a:t>1,039 blank credit scores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6316" y="3049524"/>
            <a:ext cx="2905993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0" i="0">
                <a:solidFill>
                  <a:srgbClr val="0B0B0B"/>
                </a:solidFill>
                <a:latin typeface="Calibri"/>
              </a:rPr>
              <a:t>Credit history is 0 months for every one of them — these are new-to-credit people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3477" y="3049524"/>
            <a:ext cx="2083509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Calibri"/>
              </a:rPr>
              <a:t>Kept them</a:t>
            </a:r>
            <a:r>
              <a:rPr sz="1200" b="0" i="0">
                <a:solidFill>
                  <a:srgbClr val="0B0B0B"/>
                </a:solidFill>
                <a:latin typeface="Calibri"/>
              </a:rPr>
              <a:t>, flagged with is_ntc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8155" y="3049524"/>
            <a:ext cx="3454316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0" i="0">
                <a:solidFill>
                  <a:srgbClr val="0B0B0B"/>
                </a:solidFill>
                <a:latin typeface="Calibri"/>
              </a:rPr>
              <a:t>Dropping them deletes 8.7% of applicants, mostly young first-time borrowers.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073652"/>
            <a:ext cx="1809348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Calibri"/>
              </a:rPr>
              <a:t>12 impossible incomes</a:t>
            </a:r>
            <a:r>
              <a:rPr sz="1200" b="0" i="0">
                <a:solidFill>
                  <a:srgbClr val="0B0B0B"/>
                </a:solidFill>
                <a:latin typeface="Calibri"/>
              </a:rPr>
              <a:t> (over ₹6 lakh a month)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6316" y="4073652"/>
            <a:ext cx="2905993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0" i="0">
                <a:solidFill>
                  <a:srgbClr val="0B0B0B"/>
                </a:solidFill>
                <a:latin typeface="Calibri"/>
              </a:rPr>
              <a:t>Annual income typed into a monthly box — all 12 were Salaried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3477" y="4073652"/>
            <a:ext cx="2083509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0" i="0">
                <a:solidFill>
                  <a:srgbClr val="0B0B0B"/>
                </a:solidFill>
                <a:latin typeface="Calibri"/>
              </a:rPr>
              <a:t>Divided by 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88155" y="4073652"/>
            <a:ext cx="3454316" cy="9509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0" i="0">
                <a:solidFill>
                  <a:srgbClr val="0B0B0B"/>
                </a:solidFill>
                <a:latin typeface="Calibri"/>
              </a:rPr>
              <a:t>Dividing puts every one back into a normal salary band. Left in, they teach the model that huge loans are effortless.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319869"/>
            <a:ext cx="11057839" cy="1035210"/>
          </a:xfrm>
          <a:prstGeom prst="roundRect">
            <a:avLst>
              <a:gd name="adj" fmla="val 5000"/>
            </a:avLst>
          </a:prstGeom>
          <a:solidFill>
            <a:srgbClr val="E9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5319869"/>
            <a:ext cx="50292" cy="1035210"/>
          </a:xfrm>
          <a:prstGeom prst="rect">
            <a:avLst/>
          </a:prstGeom>
          <a:solidFill>
            <a:srgbClr val="1A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5438741"/>
            <a:ext cx="10692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1A8A3F"/>
                </a:solidFill>
                <a:latin typeface="Calibri"/>
              </a:rPr>
              <a:t>WHY THIS MATTERS TO THE BANK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5676485"/>
            <a:ext cx="10673791" cy="578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350" b="0" i="0">
                <a:solidFill>
                  <a:srgbClr val="3A3937"/>
                </a:solidFill>
                <a:latin typeface="Calibri"/>
              </a:rPr>
              <a:t>We kept all </a:t>
            </a:r>
            <a:r>
              <a:rPr sz="1350" b="1" i="0">
                <a:solidFill>
                  <a:srgbClr val="3A3937"/>
                </a:solidFill>
                <a:latin typeface="Calibri"/>
              </a:rPr>
              <a:t>12,000 rows</a:t>
            </a:r>
            <a:r>
              <a:rPr sz="1350" b="0" i="0">
                <a:solidFill>
                  <a:srgbClr val="3A3937"/>
                </a:solidFill>
                <a:latin typeface="Calibri"/>
              </a:rPr>
              <a:t>. A single dropna() would have deleted 9% of applicants — the young first-time borrowers and the self-employed. </a:t>
            </a:r>
            <a:r>
              <a:rPr sz="1350" b="1" i="0">
                <a:solidFill>
                  <a:srgbClr val="3A3937"/>
                </a:solidFill>
                <a:latin typeface="Calibri"/>
              </a:rPr>
              <a:t>Those are exactly the customers the bank is trying to grow.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92240"/>
            <a:ext cx="12191695" cy="10972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6565392"/>
            <a:ext cx="7680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B5B3AC"/>
                </a:solidFill>
                <a:latin typeface="Calibri"/>
              </a:rPr>
              <a:t>Batch 9  ·  MUC02 Credit Pre-Screening Engine   ·   Mohammed Mutee Ruknuddin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27487" y="656539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B5B3AC"/>
                </a:solidFill>
                <a:latin typeface="Calibri"/>
              </a:rP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A78D6"/>
                </a:solidFill>
                <a:latin typeface="Calibri"/>
              </a:rPr>
              <a:t>OWNED BY SAALIF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400" b="1" i="0">
                <a:solidFill>
                  <a:srgbClr val="0B0B0B"/>
                </a:solidFill>
                <a:latin typeface="Calibri"/>
              </a:rPr>
              <a:t>Finding 1 — The bank has a credit score rule nobody wrote 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43584"/>
            <a:ext cx="1371600" cy="34747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5319869"/>
            <a:ext cx="11057839" cy="1035210"/>
          </a:xfrm>
          <a:prstGeom prst="roundRect">
            <a:avLst>
              <a:gd name="adj" fmla="val 5000"/>
            </a:avLst>
          </a:prstGeom>
          <a:solidFill>
            <a:srgbClr val="E9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5319869"/>
            <a:ext cx="50292" cy="1035210"/>
          </a:xfrm>
          <a:prstGeom prst="rect">
            <a:avLst/>
          </a:prstGeom>
          <a:solidFill>
            <a:srgbClr val="1A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5438741"/>
            <a:ext cx="10692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1A8A3F"/>
                </a:solidFill>
                <a:latin typeface="Calibri"/>
              </a:rPr>
              <a:t>WHY THIS MATTERS TO THE BANK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5676485"/>
            <a:ext cx="10673791" cy="578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350" b="0" i="0">
                <a:solidFill>
                  <a:srgbClr val="3A3937"/>
                </a:solidFill>
                <a:latin typeface="Calibri"/>
              </a:rPr>
              <a:t>This is the </a:t>
            </a:r>
            <a:r>
              <a:rPr sz="1350" b="1" i="0">
                <a:solidFill>
                  <a:srgbClr val="3A3937"/>
                </a:solidFill>
                <a:latin typeface="Calibri"/>
              </a:rPr>
              <a:t>safest thing in the whole dataset to automate.</a:t>
            </a:r>
            <a:r>
              <a:rPr sz="1350" b="0" i="0">
                <a:solidFill>
                  <a:srgbClr val="3A3937"/>
                </a:solidFill>
                <a:latin typeface="Calibri"/>
              </a:rPr>
              <a:t> The machine is not being asked to judge — it is being asked to repeat a decision the credit team has already made the same way 1,179 times.</a:t>
            </a:r>
          </a:p>
        </p:txBody>
      </p:sp>
      <p:pic>
        <p:nvPicPr>
          <p:cNvPr id="10" name="Picture 9" descr="01-credit-score-cli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72767"/>
            <a:ext cx="6858000" cy="33134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80960" y="1645919"/>
            <a:ext cx="394380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50" b="0" i="0">
                <a:solidFill>
                  <a:srgbClr val="0B0B0B"/>
                </a:solidFill>
                <a:latin typeface="Calibri"/>
              </a:rPr>
              <a:t>Below 650, approval is </a:t>
            </a:r>
            <a:r>
              <a:rPr sz="1450" b="1" i="0">
                <a:solidFill>
                  <a:srgbClr val="0B0B0B"/>
                </a:solidFill>
                <a:latin typeface="Calibri"/>
              </a:rPr>
              <a:t>3.0%</a:t>
            </a:r>
            <a:r>
              <a:rPr sz="1450" b="0" i="0">
                <a:solidFill>
                  <a:srgbClr val="0B0B0B"/>
                </a:solidFill>
                <a:latin typeface="Calibri"/>
              </a:rPr>
              <a:t> across 1,179 applications.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50" b="0" i="0">
                <a:solidFill>
                  <a:srgbClr val="0B0B0B"/>
                </a:solidFill>
                <a:latin typeface="Calibri"/>
              </a:rPr>
              <a:t>Just above it, </a:t>
            </a:r>
            <a:r>
              <a:rPr sz="1450" b="1" i="0">
                <a:solidFill>
                  <a:srgbClr val="0B0B0B"/>
                </a:solidFill>
                <a:latin typeface="Calibri"/>
              </a:rPr>
              <a:t>32.5%</a:t>
            </a:r>
            <a:r>
              <a:rPr sz="1450" b="0" i="0">
                <a:solidFill>
                  <a:srgbClr val="0B0B0B"/>
                </a:solidFill>
                <a:latin typeface="Calibri"/>
              </a:rPr>
              <a:t>. At 800+, </a:t>
            </a:r>
            <a:r>
              <a:rPr sz="1450" b="1" i="0">
                <a:solidFill>
                  <a:srgbClr val="0B0B0B"/>
                </a:solidFill>
                <a:latin typeface="Calibri"/>
              </a:rPr>
              <a:t>85.2%</a:t>
            </a:r>
            <a:r>
              <a:rPr sz="1450" b="0" i="0">
                <a:solidFill>
                  <a:srgbClr val="0B0B0B"/>
                </a:solidFill>
                <a:latin typeface="Calibr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615184"/>
            <a:ext cx="3943807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50" b="0" i="0">
                <a:solidFill>
                  <a:srgbClr val="3A3937"/>
                </a:solidFill>
                <a:latin typeface="Calibri"/>
              </a:rPr>
              <a:t>That is a </a:t>
            </a:r>
            <a:r>
              <a:rPr sz="1350" b="1" i="0">
                <a:solidFill>
                  <a:srgbClr val="3A3937"/>
                </a:solidFill>
                <a:latin typeface="Calibri"/>
              </a:rPr>
              <a:t>tenfold jump across a single point</a:t>
            </a:r>
            <a:r>
              <a:rPr sz="1350" b="0" i="0">
                <a:solidFill>
                  <a:srgbClr val="3A3937"/>
                </a:solidFill>
                <a:latin typeface="Calibri"/>
              </a:rPr>
              <a:t> on the scale. It is not a gradient — it is a rule. No one has written “650” into the credit policy, but every analyst applies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858768"/>
            <a:ext cx="3943807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50" b="0" i="0">
                <a:solidFill>
                  <a:srgbClr val="3A3937"/>
                </a:solidFill>
                <a:latin typeface="Calibri"/>
              </a:rPr>
              <a:t>And applicants with no score at all sit in the middle at </a:t>
            </a:r>
            <a:r>
              <a:rPr sz="1350" b="1" i="0">
                <a:solidFill>
                  <a:srgbClr val="3A3937"/>
                </a:solidFill>
                <a:latin typeface="Calibri"/>
              </a:rPr>
              <a:t>53.9%</a:t>
            </a:r>
            <a:r>
              <a:rPr sz="1350" b="0" i="0">
                <a:solidFill>
                  <a:srgbClr val="3A3937"/>
                </a:solidFill>
                <a:latin typeface="Calibri"/>
              </a:rPr>
              <a:t> — the credit team is using judgement there, not a rule. Remember that one.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10972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565392"/>
            <a:ext cx="7680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B5B3AC"/>
                </a:solidFill>
                <a:latin typeface="Calibri"/>
              </a:rPr>
              <a:t>Batch 9  ·  MUC02 Credit Pre-Screening Engine   ·   Mohammed Saalif Udyawar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27487" y="656539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B5B3AC"/>
                </a:solidFill>
                <a:latin typeface="Calibri"/>
              </a:rP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A78D6"/>
                </a:solidFill>
                <a:latin typeface="Calibri"/>
              </a:rPr>
              <a:t>OWNED BY SAALIF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150" b="1" i="0">
                <a:solidFill>
                  <a:srgbClr val="0B0B0B"/>
                </a:solidFill>
                <a:latin typeface="Calibri"/>
              </a:rPr>
              <a:t>Finding 2 — Approvals fall off a cliff once EMIs pass half the income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43584"/>
            <a:ext cx="1371600" cy="34747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5053724"/>
            <a:ext cx="11057839" cy="1301355"/>
          </a:xfrm>
          <a:prstGeom prst="roundRect">
            <a:avLst>
              <a:gd name="adj" fmla="val 5000"/>
            </a:avLst>
          </a:prstGeom>
          <a:solidFill>
            <a:srgbClr val="E9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5053724"/>
            <a:ext cx="50292" cy="1301355"/>
          </a:xfrm>
          <a:prstGeom prst="rect">
            <a:avLst/>
          </a:prstGeom>
          <a:solidFill>
            <a:srgbClr val="1A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5172596"/>
            <a:ext cx="10692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1A8A3F"/>
                </a:solidFill>
                <a:latin typeface="Calibri"/>
              </a:rPr>
              <a:t>WHY THIS MATTERS TO THE BANK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5410340"/>
            <a:ext cx="10673791" cy="8441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350" b="0" i="0">
                <a:solidFill>
                  <a:srgbClr val="3A3937"/>
                </a:solidFill>
                <a:latin typeface="Calibri"/>
              </a:rPr>
              <a:t>The bank gets </a:t>
            </a:r>
            <a:r>
              <a:rPr sz="1350" b="1" i="0">
                <a:solidFill>
                  <a:srgbClr val="3A3937"/>
                </a:solidFill>
                <a:latin typeface="Calibri"/>
              </a:rPr>
              <a:t>a written credit policy out of its own history</a:t>
            </a:r>
            <a:r>
              <a:rPr sz="1350" b="0" i="0">
                <a:solidFill>
                  <a:srgbClr val="3A3937"/>
                </a:solidFill>
                <a:latin typeface="Calibri"/>
              </a:rPr>
              <a:t>: FOIR limit </a:t>
            </a:r>
            <a:r>
              <a:rPr sz="1350" b="1" i="0">
                <a:solidFill>
                  <a:srgbClr val="3A3937"/>
                </a:solidFill>
                <a:latin typeface="Calibri"/>
              </a:rPr>
              <a:t>50%</a:t>
            </a:r>
            <a:r>
              <a:rPr sz="1350" b="0" i="0">
                <a:solidFill>
                  <a:srgbClr val="3A3937"/>
                </a:solidFill>
                <a:latin typeface="Calibri"/>
              </a:rPr>
              <a:t>, </a:t>
            </a:r>
            <a:r>
              <a:rPr sz="1350" b="1" i="0">
                <a:solidFill>
                  <a:srgbClr val="3A3937"/>
                </a:solidFill>
                <a:latin typeface="Calibri"/>
              </a:rPr>
              <a:t>50–55% a referral band</a:t>
            </a:r>
            <a:r>
              <a:rPr sz="1350" b="0" i="0">
                <a:solidFill>
                  <a:srgbClr val="3A3937"/>
                </a:solidFill>
                <a:latin typeface="Calibri"/>
              </a:rPr>
              <a:t>, </a:t>
            </a:r>
            <a:r>
              <a:rPr sz="1350" b="1" i="0">
                <a:solidFill>
                  <a:srgbClr val="3A3937"/>
                </a:solidFill>
                <a:latin typeface="Calibri"/>
              </a:rPr>
              <a:t>above 55% a decline</a:t>
            </a:r>
            <a:r>
              <a:rPr sz="1350" b="0" i="0">
                <a:solidFill>
                  <a:srgbClr val="3A3937"/>
                </a:solidFill>
                <a:latin typeface="Calibri"/>
              </a:rPr>
              <a:t> unless justified. Not a new rule — the existing unwritten one made explicit, so every analyst applies it the same way.</a:t>
            </a:r>
          </a:p>
        </p:txBody>
      </p:sp>
      <p:pic>
        <p:nvPicPr>
          <p:cNvPr id="10" name="Picture 9" descr="03-foir-cli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72767"/>
            <a:ext cx="6350453" cy="33712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80960" y="1627631"/>
            <a:ext cx="3943807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0B0B0B"/>
                </a:solidFill>
                <a:latin typeface="Calibri"/>
              </a:rPr>
              <a:t>FOIR</a:t>
            </a:r>
            <a:r>
              <a:rPr sz="1350" b="0" i="0">
                <a:solidFill>
                  <a:srgbClr val="0B0B0B"/>
                </a:solidFill>
                <a:latin typeface="Calibri"/>
              </a:rPr>
              <a:t> = (EMIs they already pay + the new EMI) ÷ monthly income.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50" b="0" i="0">
                <a:solidFill>
                  <a:srgbClr val="0B0B0B"/>
                </a:solidFill>
                <a:latin typeface="Calibri"/>
              </a:rPr>
              <a:t>It was </a:t>
            </a:r>
            <a:r>
              <a:rPr sz="1350" b="1" i="0">
                <a:solidFill>
                  <a:srgbClr val="0B0B0B"/>
                </a:solidFill>
                <a:latin typeface="Calibri"/>
              </a:rPr>
              <a:t>not in the file. We had to build it</a:t>
            </a:r>
            <a:r>
              <a:rPr sz="1350" b="0" i="0">
                <a:solidFill>
                  <a:srgbClr val="0B0B0B"/>
                </a:solidFill>
                <a:latin typeface="Calibri"/>
              </a:rPr>
              <a:t> — and it turned out to be the strongest single number in the dataset.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3182111"/>
            <a:ext cx="3943807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0" i="0">
                <a:solidFill>
                  <a:srgbClr val="3A3937"/>
                </a:solidFill>
                <a:latin typeface="Calibri"/>
              </a:rPr>
              <a:t>Up to 50% the fall is gentle — 65% → 59% → 47%.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0" i="0">
                <a:solidFill>
                  <a:srgbClr val="3A3937"/>
                </a:solidFill>
                <a:latin typeface="Calibri"/>
              </a:rPr>
              <a:t>Then it collapses: </a:t>
            </a:r>
            <a:r>
              <a:rPr sz="1350" b="1" i="0">
                <a:solidFill>
                  <a:srgbClr val="3A3937"/>
                </a:solidFill>
                <a:latin typeface="Calibri"/>
              </a:rPr>
              <a:t>47% → 32% → 16%.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0" i="0">
                <a:solidFill>
                  <a:srgbClr val="3A3937"/>
                </a:solidFill>
                <a:latin typeface="Calibri"/>
              </a:rPr>
              <a:t>Approval more than halves at one line.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91695" cy="10972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565392"/>
            <a:ext cx="7680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B5B3AC"/>
                </a:solidFill>
                <a:latin typeface="Calibri"/>
              </a:rPr>
              <a:t>Batch 9  ·  MUC02 Credit Pre-Screening Engine   ·   Mohammed Saalif Udyawar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27487" y="656539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B5B3AC"/>
                </a:solidFill>
                <a:latin typeface="Calibri"/>
              </a:rP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A78D6"/>
                </a:solidFill>
                <a:latin typeface="Calibri"/>
              </a:rPr>
              <a:t>OWNED BY SAALIF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400" b="1" i="0">
                <a:solidFill>
                  <a:srgbClr val="0B0B0B"/>
                </a:solidFill>
                <a:latin typeface="Calibri"/>
              </a:rPr>
              <a:t>Finding 3 — Gig workers are not declined for being gig workers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43584"/>
            <a:ext cx="1371600" cy="34747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5053724"/>
            <a:ext cx="11057839" cy="1301355"/>
          </a:xfrm>
          <a:prstGeom prst="roundRect">
            <a:avLst>
              <a:gd name="adj" fmla="val 5000"/>
            </a:avLst>
          </a:prstGeom>
          <a:solidFill>
            <a:srgbClr val="E9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5053724"/>
            <a:ext cx="50292" cy="1301355"/>
          </a:xfrm>
          <a:prstGeom prst="rect">
            <a:avLst/>
          </a:prstGeom>
          <a:solidFill>
            <a:srgbClr val="1A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5172596"/>
            <a:ext cx="10692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1A8A3F"/>
                </a:solidFill>
                <a:latin typeface="Calibri"/>
              </a:rPr>
              <a:t>WHY THIS MATTERS TO THE BANK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5410340"/>
            <a:ext cx="10673791" cy="8441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350" b="0" i="0">
                <a:solidFill>
                  <a:srgbClr val="3A3937"/>
                </a:solidFill>
                <a:latin typeface="Calibri"/>
              </a:rPr>
              <a:t>This is </a:t>
            </a:r>
            <a:r>
              <a:rPr sz="1350" b="1" i="0">
                <a:solidFill>
                  <a:srgbClr val="3A3937"/>
                </a:solidFill>
                <a:latin typeface="Calibri"/>
              </a:rPr>
              <a:t>defensible, and it points to a product fix.</a:t>
            </a:r>
            <a:r>
              <a:rPr sz="1350" b="0" i="0">
                <a:solidFill>
                  <a:srgbClr val="3A3937"/>
                </a:solidFill>
                <a:latin typeface="Calibri"/>
              </a:rPr>
              <a:t> The bank is declining on affordability, not on occupation. Offer gig applicants a </a:t>
            </a:r>
            <a:r>
              <a:rPr sz="1350" b="1" i="0">
                <a:solidFill>
                  <a:srgbClr val="3A3937"/>
                </a:solidFill>
                <a:latin typeface="Calibri"/>
              </a:rPr>
              <a:t>smaller ticket size or a longer tenure</a:t>
            </a:r>
            <a:r>
              <a:rPr sz="1350" b="0" i="0">
                <a:solidFill>
                  <a:srgbClr val="3A3937"/>
                </a:solidFill>
                <a:latin typeface="Calibri"/>
              </a:rPr>
              <a:t> and their FOIR drops under 50% — turning a decline into a sale instead of a loss.</a:t>
            </a:r>
          </a:p>
        </p:txBody>
      </p:sp>
      <p:pic>
        <p:nvPicPr>
          <p:cNvPr id="10" name="Picture 9" descr="02-employment-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72767"/>
            <a:ext cx="6858000" cy="319875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80960" y="1627631"/>
            <a:ext cx="3943807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 i="0">
                <a:solidFill>
                  <a:srgbClr val="0B0B0B"/>
                </a:solidFill>
                <a:latin typeface="Calibri"/>
              </a:rPr>
              <a:t>Salaried applicants are approved </a:t>
            </a:r>
            <a:r>
              <a:rPr sz="1400" b="1" i="0">
                <a:solidFill>
                  <a:srgbClr val="0B0B0B"/>
                </a:solidFill>
                <a:latin typeface="Calibri"/>
              </a:rPr>
              <a:t>58.4%</a:t>
            </a:r>
            <a:r>
              <a:rPr sz="1400" b="0" i="0">
                <a:solidFill>
                  <a:srgbClr val="0B0B0B"/>
                </a:solidFill>
                <a:latin typeface="Calibri"/>
              </a:rPr>
              <a:t> of the time. Gig and contract applicants, </a:t>
            </a:r>
            <a:r>
              <a:rPr sz="1400" b="1" i="0">
                <a:solidFill>
                  <a:srgbClr val="0B0B0B"/>
                </a:solidFill>
                <a:latin typeface="Calibri"/>
              </a:rPr>
              <a:t>34.9%</a:t>
            </a:r>
            <a:r>
              <a:rPr sz="1400" b="0" i="0">
                <a:solidFill>
                  <a:srgbClr val="0B0B0B"/>
                </a:solidFill>
                <a:latin typeface="Calibri"/>
              </a:rPr>
              <a:t> — a 23-point gap.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724911"/>
            <a:ext cx="3943807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50" b="0" i="0">
                <a:solidFill>
                  <a:srgbClr val="3A3937"/>
                </a:solidFill>
                <a:latin typeface="Calibri"/>
              </a:rPr>
              <a:t>But the label is not the cause. Gig applicants have a </a:t>
            </a:r>
            <a:r>
              <a:rPr sz="1350" b="1" i="0">
                <a:solidFill>
                  <a:srgbClr val="3A3937"/>
                </a:solidFill>
                <a:latin typeface="Calibri"/>
              </a:rPr>
              <a:t>median income of ₹28,000 against ₹50,000</a:t>
            </a:r>
            <a:r>
              <a:rPr sz="1350" b="0" i="0">
                <a:solidFill>
                  <a:srgbClr val="3A3937"/>
                </a:solidFill>
                <a:latin typeface="Calibri"/>
              </a:rPr>
              <a:t> for salaried applicants, plus shorter job tenure. The same loan therefore produces a far higher FOIR for them.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4407408"/>
            <a:ext cx="394380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50" b="0" i="0">
                <a:solidFill>
                  <a:srgbClr val="1D5AA8"/>
                </a:solidFill>
                <a:latin typeface="Calibri"/>
              </a:rPr>
              <a:t>Employment type is standing in for </a:t>
            </a:r>
            <a:r>
              <a:rPr sz="1350" b="1" i="0">
                <a:solidFill>
                  <a:srgbClr val="1D5AA8"/>
                </a:solidFill>
                <a:latin typeface="Calibri"/>
              </a:rPr>
              <a:t>income stability</a:t>
            </a:r>
            <a:r>
              <a:rPr sz="1350" b="0" i="0">
                <a:solidFill>
                  <a:srgbClr val="1D5AA8"/>
                </a:solidFill>
                <a:latin typeface="Calibri"/>
              </a:rPr>
              <a:t> — not for the job title.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10972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565392"/>
            <a:ext cx="7680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B5B3AC"/>
                </a:solidFill>
                <a:latin typeface="Calibri"/>
              </a:rPr>
              <a:t>Batch 9  ·  MUC02 Credit Pre-Screening Engine   ·   Mohammed Saalif Udyawar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27487" y="656539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B5B3AC"/>
                </a:solidFill>
                <a:latin typeface="Calibri"/>
              </a:rP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A78D6"/>
                </a:solidFill>
                <a:latin typeface="Calibri"/>
              </a:rPr>
              <a:t>OWNED BY JAVEED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The model — and what it taught itself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88719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6B6964"/>
                </a:solidFill>
                <a:latin typeface="Calibri"/>
              </a:rPr>
              <a:t>Logistic regression · 12 features · 9,600 applications to learn from, 2,400 held back to test 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45919"/>
            <a:ext cx="1371600" cy="34747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5053724"/>
            <a:ext cx="11057839" cy="1301355"/>
          </a:xfrm>
          <a:prstGeom prst="roundRect">
            <a:avLst>
              <a:gd name="adj" fmla="val 5000"/>
            </a:avLst>
          </a:prstGeom>
          <a:solidFill>
            <a:srgbClr val="E9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053724"/>
            <a:ext cx="50292" cy="1301355"/>
          </a:xfrm>
          <a:prstGeom prst="rect">
            <a:avLst/>
          </a:prstGeom>
          <a:solidFill>
            <a:srgbClr val="1A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5172596"/>
            <a:ext cx="10692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1A8A3F"/>
                </a:solidFill>
                <a:latin typeface="Calibri"/>
              </a:rPr>
              <a:t>WHY THIS MATTERS TO THE BANK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10340"/>
            <a:ext cx="10673791" cy="8441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350" b="1" i="0">
                <a:solidFill>
                  <a:srgbClr val="3A3937"/>
                </a:solidFill>
                <a:latin typeface="Calibri"/>
              </a:rPr>
              <a:t>We never told the model about the 650 cliff or the 50% FOIR line. It found both on its own.</a:t>
            </a:r>
            <a:r>
              <a:rPr sz="1350" b="0" i="0">
                <a:solidFill>
                  <a:srgbClr val="3A3937"/>
                </a:solidFill>
                <a:latin typeface="Calibri"/>
              </a:rPr>
              <a:t> That is the strongest evidence that it learned the bank's real credit policy rather than a fluke of this six months — and what makes it defensible to a credit analyst.</a:t>
            </a:r>
          </a:p>
        </p:txBody>
      </p:sp>
      <p:pic>
        <p:nvPicPr>
          <p:cNvPr id="11" name="Picture 10" descr="05-coeffic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01951"/>
            <a:ext cx="5401051" cy="30420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80960" y="1956815"/>
            <a:ext cx="394380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50" b="0" i="0">
                <a:solidFill>
                  <a:srgbClr val="0B0B0B"/>
                </a:solidFill>
                <a:latin typeface="Calibri"/>
              </a:rPr>
              <a:t>The target is </a:t>
            </a:r>
            <a:r>
              <a:rPr sz="1350" b="1" i="0">
                <a:solidFill>
                  <a:srgbClr val="0B0B0B"/>
                </a:solidFill>
                <a:latin typeface="Calibri"/>
              </a:rPr>
              <a:t>Declined = 1</a:t>
            </a:r>
            <a:r>
              <a:rPr sz="1350" b="0" i="0">
                <a:solidFill>
                  <a:srgbClr val="0B0B0B"/>
                </a:solidFill>
                <a:latin typeface="Calibri"/>
              </a:rPr>
              <a:t>, because auto-declining is the action we are trying to take.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798063"/>
            <a:ext cx="3943807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50" b="1" i="0">
                <a:solidFill>
                  <a:srgbClr val="3A3937"/>
                </a:solidFill>
                <a:latin typeface="Calibri"/>
              </a:rPr>
              <a:t>Gender, city and the decision itself were left out</a:t>
            </a:r>
            <a:r>
              <a:rPr sz="1350" b="0" i="0">
                <a:solidFill>
                  <a:srgbClr val="3A3937"/>
                </a:solidFill>
                <a:latin typeface="Calibri"/>
              </a:rPr>
              <a:t> — gender because a bank cannot defend a credit decision that uses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3895344"/>
            <a:ext cx="3943807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50" b="0" i="0">
                <a:solidFill>
                  <a:srgbClr val="3A3937"/>
                </a:solidFill>
                <a:latin typeface="Calibri"/>
              </a:rPr>
              <a:t>The top three are </a:t>
            </a:r>
            <a:r>
              <a:rPr sz="1350" b="1" i="0">
                <a:solidFill>
                  <a:srgbClr val="3A3937"/>
                </a:solidFill>
                <a:latin typeface="Calibri"/>
              </a:rPr>
              <a:t>FOIR, credit score and delinquencies</a:t>
            </a:r>
            <a:r>
              <a:rPr sz="1350" b="0" i="0">
                <a:solidFill>
                  <a:srgbClr val="3A3937"/>
                </a:solidFill>
                <a:latin typeface="Calibri"/>
              </a:rPr>
              <a:t> — the same three drivers Saalif found by hand, in the same order.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92240"/>
            <a:ext cx="12191695" cy="10972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6565392"/>
            <a:ext cx="7680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B5B3AC"/>
                </a:solidFill>
                <a:latin typeface="Calibri"/>
              </a:rPr>
              <a:t>Batch 9  ·  MUC02 Credit Pre-Screening Engine   ·   Mulla Javeed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27487" y="656539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B5B3AC"/>
                </a:solidFill>
                <a:latin typeface="Calibri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A78D6"/>
                </a:solidFill>
                <a:latin typeface="Calibri"/>
              </a:rPr>
              <a:t>OWNED BY JAVEED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400" b="1" i="0">
                <a:solidFill>
                  <a:srgbClr val="0B0B0B"/>
                </a:solidFill>
                <a:latin typeface="Calibri"/>
              </a:rPr>
              <a:t>How we judge it — and why accuracy is the wrong headline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43584"/>
            <a:ext cx="1371600" cy="34747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6B6964"/>
                </a:solidFill>
                <a:latin typeface="Calibri"/>
              </a:rPr>
              <a:t>The confusion matrix: a simple 2×2 of what the model said against what really happened.</a:t>
            </a:r>
          </a:p>
        </p:txBody>
      </p:sp>
      <p:pic>
        <p:nvPicPr>
          <p:cNvPr id="7" name="Picture 6" descr="04-confusion-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8800"/>
            <a:ext cx="5394960" cy="320124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254496" y="1865376"/>
            <a:ext cx="36576" cy="640080"/>
          </a:xfrm>
          <a:prstGeom prst="rect">
            <a:avLst/>
          </a:prstGeom>
          <a:solidFill>
            <a:srgbClr val="1A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65376"/>
            <a:ext cx="522396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1A8A3F"/>
                </a:solidFill>
                <a:latin typeface="Calibri"/>
              </a:rPr>
              <a:t>True Negative — 1,046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520567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3A3937"/>
                </a:solidFill>
                <a:latin typeface="Calibri"/>
              </a:rPr>
              <a:t>Model said approve, the team approved. Correct.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54496" y="2487168"/>
            <a:ext cx="36576" cy="640080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487168"/>
            <a:ext cx="522396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D03B3B"/>
                </a:solidFill>
                <a:latin typeface="Calibri"/>
              </a:rPr>
              <a:t>False Positive — 225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724912"/>
            <a:ext cx="520567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3A3937"/>
                </a:solidFill>
                <a:latin typeface="Calibri"/>
              </a:rPr>
              <a:t>Model said decline, the team had APPROVED. A real customer lost. The expensive error.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54496" y="3108960"/>
            <a:ext cx="36576" cy="640080"/>
          </a:xfrm>
          <a:prstGeom prst="rect">
            <a:avLst/>
          </a:prstGeom>
          <a:solidFill>
            <a:srgbClr val="B87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108960"/>
            <a:ext cx="522396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B87D0A"/>
                </a:solidFill>
                <a:latin typeface="Calibri"/>
              </a:rPr>
              <a:t>False Negative — 277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346704"/>
            <a:ext cx="520567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3A3937"/>
                </a:solidFill>
                <a:latin typeface="Calibri"/>
              </a:rPr>
              <a:t>Model said approve, the team declined. Costs 25 minutes of an analyst's time. Cheap.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54496" y="3730752"/>
            <a:ext cx="36576" cy="640080"/>
          </a:xfrm>
          <a:prstGeom prst="rect">
            <a:avLst/>
          </a:prstGeom>
          <a:solidFill>
            <a:srgbClr val="1A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730752"/>
            <a:ext cx="522396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1A8A3F"/>
                </a:solidFill>
                <a:latin typeface="Calibri"/>
              </a:rPr>
              <a:t>True Positive — 852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968496"/>
            <a:ext cx="520567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3A3937"/>
                </a:solidFill>
                <a:latin typeface="Calibri"/>
              </a:rPr>
              <a:t>Model said decline, the team declined. Correct.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4425696"/>
            <a:ext cx="5370271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 i="0">
                <a:solidFill>
                  <a:srgbClr val="3A3937"/>
                </a:solidFill>
                <a:latin typeface="Calibri"/>
              </a:rPr>
              <a:t>Precision (Declined) = 79.1%</a:t>
            </a:r>
            <a:r>
              <a:rPr sz="1200" b="0" i="0">
                <a:solidFill>
                  <a:srgbClr val="3A3937"/>
                </a:solidFill>
                <a:latin typeface="Calibri"/>
              </a:rPr>
              <a:t> — of everyone the model declines, how many really were declines.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 i="0">
                <a:solidFill>
                  <a:srgbClr val="3A3937"/>
                </a:solidFill>
                <a:latin typeface="Calibri"/>
              </a:rPr>
              <a:t>Recall (Declined) = 75.5%</a:t>
            </a:r>
            <a:r>
              <a:rPr sz="1200" b="0" i="0">
                <a:solidFill>
                  <a:srgbClr val="3A3937"/>
                </a:solidFill>
                <a:latin typeface="Calibri"/>
              </a:rPr>
              <a:t> — of all the real declines, how many the model caught.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 i="0">
                <a:solidFill>
                  <a:srgbClr val="3A3937"/>
                </a:solidFill>
                <a:latin typeface="Calibri"/>
              </a:rPr>
              <a:t>Accuracy 79.1%  ·  ROC-AUC 0.867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319869"/>
            <a:ext cx="11057839" cy="1035210"/>
          </a:xfrm>
          <a:prstGeom prst="roundRect">
            <a:avLst>
              <a:gd name="adj" fmla="val 5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5319869"/>
            <a:ext cx="50292" cy="1035210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5438741"/>
            <a:ext cx="10692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D03B3B"/>
                </a:solidFill>
                <a:latin typeface="Calibri"/>
              </a:rPr>
              <a:t>THE NUMBER THAT CHANGED THE CONVERSATION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5676485"/>
            <a:ext cx="10673791" cy="578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350" b="0" i="0">
                <a:solidFill>
                  <a:srgbClr val="3A3937"/>
                </a:solidFill>
                <a:latin typeface="Calibri"/>
              </a:rPr>
              <a:t>“The model is 79% accurate” describes the model. “</a:t>
            </a:r>
            <a:r>
              <a:rPr sz="1350" b="1" i="0">
                <a:solidFill>
                  <a:srgbClr val="3A3937"/>
                </a:solidFill>
                <a:latin typeface="Calibri"/>
              </a:rPr>
              <a:t>225 applicants we would have approved are turned away</a:t>
            </a:r>
            <a:r>
              <a:rPr sz="1350" b="0" i="0">
                <a:solidFill>
                  <a:srgbClr val="3A3937"/>
                </a:solidFill>
                <a:latin typeface="Calibri"/>
              </a:rPr>
              <a:t>” describes the business — and that is why the next slide exists.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92240"/>
            <a:ext cx="12191695" cy="10972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6565392"/>
            <a:ext cx="7680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B5B3AC"/>
                </a:solidFill>
                <a:latin typeface="Calibri"/>
              </a:rPr>
              <a:t>Batch 9  ·  MUC02 Credit Pre-Screening Engine   ·   Mulla Javeed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7487" y="656539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B5B3AC"/>
                </a:solidFill>
                <a:latin typeface="Calibri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A78D6"/>
                </a:solidFill>
                <a:latin typeface="Calibri"/>
              </a:rPr>
              <a:t>OWNED BY JAVEED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Finding 4 — The bank sets the limit, the model finds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43584"/>
            <a:ext cx="1371600" cy="34747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5053724"/>
            <a:ext cx="11057839" cy="1301355"/>
          </a:xfrm>
          <a:prstGeom prst="roundRect">
            <a:avLst>
              <a:gd name="adj" fmla="val 5000"/>
            </a:avLst>
          </a:prstGeom>
          <a:solidFill>
            <a:srgbClr val="E9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5053724"/>
            <a:ext cx="50292" cy="1301355"/>
          </a:xfrm>
          <a:prstGeom prst="rect">
            <a:avLst/>
          </a:prstGeom>
          <a:solidFill>
            <a:srgbClr val="1A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5172596"/>
            <a:ext cx="10692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1A8A3F"/>
                </a:solidFill>
                <a:latin typeface="Calibri"/>
              </a:rPr>
              <a:t>WHY THIS MATTERS TO THE BANK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5410340"/>
            <a:ext cx="10673791" cy="8441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350" b="1" i="0">
                <a:solidFill>
                  <a:srgbClr val="3A3937"/>
                </a:solidFill>
                <a:latin typeface="Calibri"/>
              </a:rPr>
              <a:t>We recommend 0.90</a:t>
            </a:r>
            <a:r>
              <a:rPr sz="1350" b="0" i="0">
                <a:solidFill>
                  <a:srgbClr val="3A3937"/>
                </a:solidFill>
                <a:latin typeface="Calibri"/>
              </a:rPr>
              <a:t> — the lowest cut-off that stays inside the 5% rule, at 4.7% wrong. That removes </a:t>
            </a:r>
            <a:r>
              <a:rPr sz="1350" b="1" i="0">
                <a:solidFill>
                  <a:srgbClr val="3A3937"/>
                </a:solidFill>
                <a:latin typeface="Calibri"/>
              </a:rPr>
              <a:t>15.2% of applications: about 456 a month and 190 analyst hours.</a:t>
            </a:r>
            <a:r>
              <a:rPr sz="1350" b="0" i="0">
                <a:solidFill>
                  <a:srgbClr val="3A3937"/>
                </a:solidFill>
                <a:latin typeface="Calibri"/>
              </a:rPr>
              <a:t> Anything higher buys safety the bank already said it does not need, and pays for it in volume.</a:t>
            </a:r>
          </a:p>
        </p:txBody>
      </p:sp>
      <p:pic>
        <p:nvPicPr>
          <p:cNvPr id="10" name="Picture 9" descr="06-threshold-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54480"/>
            <a:ext cx="6129976" cy="33895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80960" y="1591055"/>
            <a:ext cx="3943807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50" b="0" i="0">
                <a:solidFill>
                  <a:srgbClr val="0B0B0B"/>
                </a:solidFill>
                <a:latin typeface="Calibri"/>
              </a:rPr>
              <a:t>A logistic regression outputs a </a:t>
            </a:r>
            <a:r>
              <a:rPr sz="1350" b="1" i="0">
                <a:solidFill>
                  <a:srgbClr val="0B0B0B"/>
                </a:solidFill>
                <a:latin typeface="Calibri"/>
              </a:rPr>
              <a:t>probability</a:t>
            </a:r>
            <a:r>
              <a:rPr sz="1350" b="0" i="0">
                <a:solidFill>
                  <a:srgbClr val="0B0B0B"/>
                </a:solidFill>
                <a:latin typeface="Calibri"/>
              </a:rPr>
              <a:t>, not a decision. Python's default cut-off is 0.5 — a statistical convention with nothing to do with lending.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871215"/>
            <a:ext cx="3943807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350" b="0" i="0">
                <a:solidFill>
                  <a:srgbClr val="3A3937"/>
                </a:solidFill>
                <a:latin typeface="Calibri"/>
              </a:rPr>
              <a:t>At 0.5 it auto-declines </a:t>
            </a:r>
            <a:r>
              <a:rPr sz="1350" b="1" i="0">
                <a:solidFill>
                  <a:srgbClr val="3A3937"/>
                </a:solidFill>
                <a:latin typeface="Calibri"/>
              </a:rPr>
              <a:t>44.9%</a:t>
            </a:r>
            <a:r>
              <a:rPr sz="1350" b="0" i="0">
                <a:solidFill>
                  <a:srgbClr val="3A3937"/>
                </a:solidFill>
                <a:latin typeface="Calibri"/>
              </a:rPr>
              <a:t> of applications — but </a:t>
            </a:r>
            <a:r>
              <a:rPr sz="1350" b="1" i="0">
                <a:solidFill>
                  <a:srgbClr val="3A3937"/>
                </a:solidFill>
                <a:latin typeface="Calibri"/>
              </a:rPr>
              <a:t>one in five of those is a customer the bank wanted.</a:t>
            </a:r>
            <a:r>
              <a:rPr sz="1350" b="0" i="0">
                <a:solidFill>
                  <a:srgbClr val="3A3937"/>
                </a:solidFill>
                <a:latin typeface="Calibri"/>
              </a:rPr>
              <a:t> No lending unit would sign that off.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4005072"/>
            <a:ext cx="3943807" cy="987552"/>
          </a:xfrm>
          <a:prstGeom prst="roundRect">
            <a:avLst>
              <a:gd name="adj" fmla="val 5000"/>
            </a:avLst>
          </a:prstGeom>
          <a:solidFill>
            <a:srgbClr val="FF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80960" y="4005072"/>
            <a:ext cx="45720" cy="987552"/>
          </a:xfrm>
          <a:prstGeom prst="rect">
            <a:avLst/>
          </a:prstGeom>
          <a:solidFill>
            <a:srgbClr val="B87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4114800"/>
            <a:ext cx="357804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B87D0A"/>
                </a:solidFill>
                <a:latin typeface="Calibri"/>
              </a:rPr>
              <a:t>THE BANK'S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334256"/>
            <a:ext cx="355975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0" i="0">
                <a:solidFill>
                  <a:srgbClr val="3A3937"/>
                </a:solidFill>
                <a:latin typeface="Calibri"/>
              </a:rPr>
              <a:t>No more than </a:t>
            </a:r>
            <a:r>
              <a:rPr sz="1200" b="1" i="0">
                <a:solidFill>
                  <a:srgbClr val="3A3937"/>
                </a:solidFill>
                <a:latin typeface="Calibri"/>
              </a:rPr>
              <a:t>5%</a:t>
            </a:r>
            <a:r>
              <a:rPr sz="1200" b="0" i="0">
                <a:solidFill>
                  <a:srgbClr val="3A3937"/>
                </a:solidFill>
                <a:latin typeface="Calibri"/>
              </a:rPr>
              <a:t> of auto-declined applications may be ones the credit team would have approved.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92240"/>
            <a:ext cx="12191695" cy="10972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65392"/>
            <a:ext cx="7680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B5B3AC"/>
                </a:solidFill>
                <a:latin typeface="Calibri"/>
              </a:rPr>
              <a:t>Batch 9  ·  MUC02 Credit Pre-Screening Engine   ·   Mulla Javeed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27487" y="656539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B5B3AC"/>
                </a:solidFill>
                <a:latin typeface="Calibri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A78D6"/>
                </a:solidFill>
                <a:latin typeface="Calibri"/>
              </a:rPr>
              <a:t>OWNED BY VARSHITHA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Finding 5 — The one group the model must not decide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43584"/>
            <a:ext cx="1371600" cy="34747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499616"/>
            <a:ext cx="2627299" cy="1078992"/>
          </a:xfrm>
          <a:prstGeom prst="roundRect">
            <a:avLst>
              <a:gd name="adj" fmla="val 7000"/>
            </a:avLst>
          </a:prstGeom>
          <a:solidFill>
            <a:srgbClr val="F4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655063"/>
            <a:ext cx="237126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1D5AA8"/>
                </a:solidFill>
                <a:latin typeface="Calibri"/>
              </a:rPr>
              <a:t>81.2%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30552"/>
            <a:ext cx="2444419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B6964"/>
                </a:solidFill>
                <a:latin typeface="Calibri"/>
              </a:rPr>
              <a:t>accuracy on applicants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B6964"/>
                </a:solidFill>
                <a:latin typeface="Calibri"/>
              </a:rPr>
              <a:t>WITH a credit score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77107" y="1499616"/>
            <a:ext cx="2627299" cy="1078992"/>
          </a:xfrm>
          <a:prstGeom prst="roundRect">
            <a:avLst>
              <a:gd name="adj" fmla="val 7000"/>
            </a:avLst>
          </a:prstGeom>
          <a:solidFill>
            <a:srgbClr val="F4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05123" y="1655063"/>
            <a:ext cx="237126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1D5AA8"/>
                </a:solidFill>
                <a:latin typeface="Calibri"/>
              </a:rPr>
              <a:t>56.7%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68547" y="2130552"/>
            <a:ext cx="2444419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B6964"/>
                </a:solidFill>
                <a:latin typeface="Calibri"/>
              </a:rPr>
              <a:t>accuracy on applicants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B6964"/>
                </a:solidFill>
                <a:latin typeface="Calibri"/>
              </a:rPr>
              <a:t>with NO credit score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7287" y="1499616"/>
            <a:ext cx="2627299" cy="1078992"/>
          </a:xfrm>
          <a:prstGeom prst="roundRect">
            <a:avLst>
              <a:gd name="adj" fmla="val 7000"/>
            </a:avLst>
          </a:prstGeom>
          <a:solidFill>
            <a:srgbClr val="F4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5303" y="1655063"/>
            <a:ext cx="237126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1D5AA8"/>
                </a:solidFill>
                <a:latin typeface="Calibri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8727" y="2130552"/>
            <a:ext cx="2444419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B6964"/>
                </a:solidFill>
                <a:latin typeface="Calibri"/>
              </a:rPr>
              <a:t>delinquencies, active loans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B6964"/>
                </a:solidFill>
                <a:latin typeface="Calibri"/>
              </a:rPr>
              <a:t>and EMIs — for all 1,039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97467" y="1499616"/>
            <a:ext cx="2627299" cy="1078992"/>
          </a:xfrm>
          <a:prstGeom prst="roundRect">
            <a:avLst>
              <a:gd name="adj" fmla="val 7000"/>
            </a:avLst>
          </a:prstGeom>
          <a:solidFill>
            <a:srgbClr val="F4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25483" y="1655063"/>
            <a:ext cx="237126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900" b="1" i="0">
                <a:solidFill>
                  <a:srgbClr val="1D5AA8"/>
                </a:solidFill>
                <a:latin typeface="Calibri"/>
              </a:rPr>
              <a:t>6 of 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88907" y="2130552"/>
            <a:ext cx="2444419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B6964"/>
                </a:solidFill>
                <a:latin typeface="Calibri"/>
              </a:rPr>
              <a:t>new-to-credit auto-declines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6B6964"/>
                </a:solidFill>
                <a:latin typeface="Calibri"/>
              </a:rPr>
              <a:t>the bank had APPROVED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2615184"/>
            <a:ext cx="11057839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250" b="1" i="0">
                <a:solidFill>
                  <a:srgbClr val="0B0B0B"/>
                </a:solidFill>
                <a:latin typeface="Calibri"/>
              </a:rPr>
              <a:t>Why it fails is structural, not statistical.</a:t>
            </a:r>
            <a:r>
              <a:rPr sz="1250" b="0" i="0">
                <a:solidFill>
                  <a:srgbClr val="0B0B0B"/>
                </a:solidFill>
                <a:latin typeface="Calibri"/>
              </a:rPr>
              <a:t> Someone who has never borrowed has no loans to be late on — so delinquencies, active loans and existing EMIs are </a:t>
            </a:r>
            <a:r>
              <a:rPr sz="1250" b="1" i="0">
                <a:solidFill>
                  <a:srgbClr val="0B0B0B"/>
                </a:solidFill>
                <a:latin typeface="Calibri"/>
              </a:rPr>
              <a:t>zero by definition</a:t>
            </a:r>
            <a:r>
              <a:rPr sz="1250" b="0" i="0">
                <a:solidFill>
                  <a:srgbClr val="0B0B0B"/>
                </a:solidFill>
                <a:latin typeface="Calibri"/>
              </a:rPr>
              <a:t> for all 1,039 of them. Three of the model's four strongest features are blank for this group, and no amount of modelling fixes 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493008"/>
            <a:ext cx="11057839" cy="329184"/>
          </a:xfrm>
          <a:prstGeom prst="rect">
            <a:avLst/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43300"/>
            <a:ext cx="2174896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3061864" y="3543300"/>
            <a:ext cx="3728477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1" i="0">
                <a:solidFill>
                  <a:srgbClr val="1D5AA8"/>
                </a:solidFill>
                <a:latin typeface="Calibri"/>
              </a:rPr>
              <a:t>Design A — one lane for everyone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1509" y="3543300"/>
            <a:ext cx="4550961" cy="2560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1" i="0">
                <a:solidFill>
                  <a:srgbClr val="1D5AA8"/>
                </a:solidFill>
                <a:latin typeface="Calibri"/>
              </a:rPr>
              <a:t>Design B — no credit history always sees a human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805732"/>
            <a:ext cx="11057839" cy="16459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872484"/>
            <a:ext cx="217489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Calibri"/>
              </a:rPr>
              <a:t>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1864" y="3872484"/>
            <a:ext cx="3728477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0" i="0">
                <a:solidFill>
                  <a:srgbClr val="0B0B0B"/>
                </a:solidFill>
                <a:latin typeface="Calibri"/>
              </a:rPr>
              <a:t>0.90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1509" y="3872484"/>
            <a:ext cx="4550961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Calibri"/>
              </a:rPr>
              <a:t>0.88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4160520"/>
            <a:ext cx="11057839" cy="338328"/>
          </a:xfrm>
          <a:prstGeom prst="rect">
            <a:avLst/>
          </a:prstGeom>
          <a:solidFill>
            <a:srgbClr val="F4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210812"/>
            <a:ext cx="217489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Calibri"/>
              </a:rPr>
              <a:t>Applications auto-declined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61864" y="4210812"/>
            <a:ext cx="3728477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0" i="0">
                <a:solidFill>
                  <a:srgbClr val="0B0B0B"/>
                </a:solidFill>
                <a:latin typeface="Calibri"/>
              </a:rPr>
              <a:t>15.2%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1509" y="4210812"/>
            <a:ext cx="4550961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Calibri"/>
              </a:rPr>
              <a:t>16.4%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549140"/>
            <a:ext cx="217489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Calibri"/>
              </a:rPr>
              <a:t>Wrongly declined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61864" y="4549140"/>
            <a:ext cx="3728477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0" i="0">
                <a:solidFill>
                  <a:srgbClr val="0B0B0B"/>
                </a:solidFill>
                <a:latin typeface="Calibri"/>
              </a:rPr>
              <a:t>4.7%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1509" y="4549140"/>
            <a:ext cx="4550961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Calibri"/>
              </a:rPr>
              <a:t>4.1%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4837176"/>
            <a:ext cx="11057839" cy="338328"/>
          </a:xfrm>
          <a:prstGeom prst="rect">
            <a:avLst/>
          </a:prstGeom>
          <a:solidFill>
            <a:srgbClr val="F4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4887468"/>
            <a:ext cx="2174896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Calibri"/>
              </a:rPr>
              <a:t>Per month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61864" y="4887468"/>
            <a:ext cx="3728477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0" i="0">
                <a:solidFill>
                  <a:srgbClr val="0B0B0B"/>
                </a:solidFill>
                <a:latin typeface="Calibri"/>
              </a:rPr>
              <a:t>~456 applications · ~190 hours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1509" y="4887468"/>
            <a:ext cx="4550961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Calibri"/>
              </a:rPr>
              <a:t>~492 applications · ~205 hours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5339583"/>
            <a:ext cx="11057839" cy="1015496"/>
          </a:xfrm>
          <a:prstGeom prst="roundRect">
            <a:avLst>
              <a:gd name="adj" fmla="val 5000"/>
            </a:avLst>
          </a:prstGeom>
          <a:solidFill>
            <a:srgbClr val="E9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6928" y="5339583"/>
            <a:ext cx="50292" cy="1015496"/>
          </a:xfrm>
          <a:prstGeom prst="rect">
            <a:avLst/>
          </a:prstGeom>
          <a:solidFill>
            <a:srgbClr val="1A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" y="5458455"/>
            <a:ext cx="10692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1A8A3F"/>
                </a:solidFill>
                <a:latin typeface="Calibri"/>
              </a:rPr>
              <a:t>WHY THIS MATTERS TO THE BANK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" y="5696199"/>
            <a:ext cx="10673791" cy="558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300" b="1" i="0">
                <a:solidFill>
                  <a:srgbClr val="3A3937"/>
                </a:solidFill>
                <a:latin typeface="Calibri"/>
              </a:rPr>
              <a:t>More applications removed AND fewer mistakes, at the same time</a:t>
            </a:r>
            <a:r>
              <a:rPr sz="1300" b="0" i="0">
                <a:solidFill>
                  <a:srgbClr val="3A3937"/>
                </a:solidFill>
                <a:latin typeface="Calibri"/>
              </a:rPr>
              <a:t> — and it protects young first-time borrowers. One sentence to explain: “we never auto-decline someone with no credit history.”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492240"/>
            <a:ext cx="12191695" cy="10972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8" y="6565392"/>
            <a:ext cx="7680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B5B3AC"/>
                </a:solidFill>
                <a:latin typeface="Calibri"/>
              </a:rPr>
              <a:t>Batch 9  ·  MUC02 Credit Pre-Screening Engine   ·   Nagothu Varshitha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27487" y="656539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B5B3AC"/>
                </a:solidFill>
                <a:latin typeface="Calibri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A78D6"/>
                </a:solidFill>
                <a:latin typeface="Calibri"/>
              </a:rPr>
              <a:t>OWNED BY VARSHITHA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Fairness — we measured it instead of assuming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43584"/>
            <a:ext cx="1371600" cy="34747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6B6964"/>
                </a:solidFill>
                <a:latin typeface="Calibri"/>
              </a:rPr>
              <a:t>We did not use gender as a feature. That on its own does not make a model fair.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11057839" cy="658368"/>
          </a:xfrm>
          <a:prstGeom prst="roundRect">
            <a:avLst>
              <a:gd name="adj" fmla="val 4000"/>
            </a:avLst>
          </a:prstGeom>
          <a:solidFill>
            <a:srgbClr val="F4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828800"/>
            <a:ext cx="41148" cy="65836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901952"/>
            <a:ext cx="32004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B6834"/>
                </a:solidFill>
                <a:latin typeface="Calibri"/>
              </a:rPr>
              <a:t>1.  There IS a gap in the history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3087" y="1883664"/>
            <a:ext cx="7263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00" b="1" i="0">
                <a:solidFill>
                  <a:srgbClr val="3A3937"/>
                </a:solidFill>
                <a:latin typeface="Calibri"/>
              </a:rPr>
              <a:t>54.1%</a:t>
            </a:r>
            <a:r>
              <a:rPr sz="1200" b="0" i="0">
                <a:solidFill>
                  <a:srgbClr val="3A3937"/>
                </a:solidFill>
                <a:latin typeface="Calibri"/>
              </a:rPr>
              <a:t> of men approved against </a:t>
            </a:r>
            <a:r>
              <a:rPr sz="1200" b="1" i="0">
                <a:solidFill>
                  <a:srgbClr val="3A3937"/>
                </a:solidFill>
                <a:latin typeface="Calibri"/>
              </a:rPr>
              <a:t>50.4%</a:t>
            </a:r>
            <a:r>
              <a:rPr sz="1200" b="0" i="0">
                <a:solidFill>
                  <a:srgbClr val="3A3937"/>
                </a:solidFill>
                <a:latin typeface="Calibri"/>
              </a:rPr>
              <a:t> of women — a </a:t>
            </a:r>
            <a:r>
              <a:rPr sz="1200" b="1" i="0">
                <a:solidFill>
                  <a:srgbClr val="3A3937"/>
                </a:solidFill>
                <a:latin typeface="Calibri"/>
              </a:rPr>
              <a:t>3.7-point</a:t>
            </a:r>
            <a:r>
              <a:rPr sz="1200" b="0" i="0">
                <a:solidFill>
                  <a:srgbClr val="3A3937"/>
                </a:solidFill>
                <a:latin typeface="Calibri"/>
              </a:rPr>
              <a:t> gap in the bank's own past decisions.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542032"/>
            <a:ext cx="11057839" cy="658368"/>
          </a:xfrm>
          <a:prstGeom prst="roundRect">
            <a:avLst>
              <a:gd name="adj" fmla="val 4000"/>
            </a:avLst>
          </a:prstGeom>
          <a:solidFill>
            <a:srgbClr val="F4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2542032"/>
            <a:ext cx="41148" cy="65836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615184"/>
            <a:ext cx="32004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2A78D6"/>
                </a:solidFill>
                <a:latin typeface="Calibri"/>
              </a:rPr>
              <a:t>2.  It is about which jobs, not about gender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33087" y="2596896"/>
            <a:ext cx="7263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00" b="0" i="0">
                <a:solidFill>
                  <a:srgbClr val="3A3937"/>
                </a:solidFill>
                <a:latin typeface="Calibri"/>
              </a:rPr>
              <a:t>Inside Gig/Contract the gap is </a:t>
            </a:r>
            <a:r>
              <a:rPr sz="1200" b="1" i="0">
                <a:solidFill>
                  <a:srgbClr val="3A3937"/>
                </a:solidFill>
                <a:latin typeface="Calibri"/>
              </a:rPr>
              <a:t>0.5 points</a:t>
            </a:r>
            <a:r>
              <a:rPr sz="1200" b="0" i="0">
                <a:solidFill>
                  <a:srgbClr val="3A3937"/>
                </a:solidFill>
                <a:latin typeface="Calibri"/>
              </a:rPr>
              <a:t>; inside Business Owner it is </a:t>
            </a:r>
            <a:r>
              <a:rPr sz="1200" b="1" i="0">
                <a:solidFill>
                  <a:srgbClr val="3A3937"/>
                </a:solidFill>
                <a:latin typeface="Calibri"/>
              </a:rPr>
              <a:t>−0.6</a:t>
            </a:r>
            <a:r>
              <a:rPr sz="1200" b="0" i="0">
                <a:solidFill>
                  <a:srgbClr val="3A3937"/>
                </a:solidFill>
                <a:latin typeface="Calibri"/>
              </a:rPr>
              <a:t> (favouring women). The aggregate gap comes from </a:t>
            </a:r>
            <a:r>
              <a:rPr sz="1200" b="1" i="0">
                <a:solidFill>
                  <a:srgbClr val="3A3937"/>
                </a:solidFill>
                <a:latin typeface="Calibri"/>
              </a:rPr>
              <a:t>composition</a:t>
            </a:r>
            <a:r>
              <a:rPr sz="1200" b="0" i="0">
                <a:solidFill>
                  <a:srgbClr val="3A3937"/>
                </a:solidFill>
                <a:latin typeface="Calibri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255264"/>
            <a:ext cx="11057839" cy="658368"/>
          </a:xfrm>
          <a:prstGeom prst="roundRect">
            <a:avLst>
              <a:gd name="adj" fmla="val 4000"/>
            </a:avLst>
          </a:prstGeom>
          <a:solidFill>
            <a:srgbClr val="F4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255264"/>
            <a:ext cx="41148" cy="65836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328416"/>
            <a:ext cx="32004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2A78D6"/>
                </a:solidFill>
                <a:latin typeface="Calibri"/>
              </a:rPr>
              <a:t>3.  What explains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33087" y="3310128"/>
            <a:ext cx="7263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00" b="0" i="0">
                <a:solidFill>
                  <a:srgbClr val="3A3937"/>
                </a:solidFill>
                <a:latin typeface="Calibri"/>
              </a:rPr>
              <a:t>Female applicants: median income </a:t>
            </a:r>
            <a:r>
              <a:rPr sz="1200" b="1" i="0">
                <a:solidFill>
                  <a:srgbClr val="3A3937"/>
                </a:solidFill>
                <a:latin typeface="Calibri"/>
              </a:rPr>
              <a:t>₹45,000 vs ₹55,000</a:t>
            </a:r>
            <a:r>
              <a:rPr sz="1200" b="0" i="0">
                <a:solidFill>
                  <a:srgbClr val="3A3937"/>
                </a:solidFill>
                <a:latin typeface="Calibri"/>
              </a:rPr>
              <a:t>, and </a:t>
            </a:r>
            <a:r>
              <a:rPr sz="1200" b="1" i="0">
                <a:solidFill>
                  <a:srgbClr val="3A3937"/>
                </a:solidFill>
                <a:latin typeface="Calibri"/>
              </a:rPr>
              <a:t>21% are gig workers against 12%</a:t>
            </a:r>
            <a:r>
              <a:rPr sz="1200" b="0" i="0">
                <a:solidFill>
                  <a:srgbClr val="3A3937"/>
                </a:solidFill>
                <a:latin typeface="Calibri"/>
              </a:rPr>
              <a:t> of men — the lowest-approval category. Credit scores are near-identical (723 vs 727).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968496"/>
            <a:ext cx="11057839" cy="658368"/>
          </a:xfrm>
          <a:prstGeom prst="roundRect">
            <a:avLst>
              <a:gd name="adj" fmla="val 4000"/>
            </a:avLst>
          </a:prstGeom>
          <a:solidFill>
            <a:srgbClr val="F4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3968496"/>
            <a:ext cx="41148" cy="658368"/>
          </a:xfrm>
          <a:prstGeom prst="rect">
            <a:avLst/>
          </a:prstGeom>
          <a:solidFill>
            <a:srgbClr val="1A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4041648"/>
            <a:ext cx="32004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1A8A3F"/>
                </a:solidFill>
                <a:latin typeface="Calibri"/>
              </a:rPr>
              <a:t>4.  Our model does not widen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33087" y="4023360"/>
            <a:ext cx="7263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00" b="0" i="0">
                <a:solidFill>
                  <a:srgbClr val="3A3937"/>
                </a:solidFill>
                <a:latin typeface="Calibri"/>
              </a:rPr>
              <a:t>At 0.90 it auto-declines </a:t>
            </a:r>
            <a:r>
              <a:rPr sz="1200" b="1" i="0">
                <a:solidFill>
                  <a:srgbClr val="3A3937"/>
                </a:solidFill>
                <a:latin typeface="Calibri"/>
              </a:rPr>
              <a:t>15.6% of women and 15.0% of men</a:t>
            </a:r>
            <a:r>
              <a:rPr sz="1200" b="0" i="0">
                <a:solidFill>
                  <a:srgbClr val="3A3937"/>
                </a:solidFill>
                <a:latin typeface="Calibri"/>
              </a:rPr>
              <a:t> — a 0.6-point gap, against 3.7 in the human decisions. Errors do not fall harder on women (3.4% vs 5.2%).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4736592"/>
            <a:ext cx="1105783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Calibri"/>
              </a:rPr>
              <a:t>Our position:</a:t>
            </a:r>
            <a:r>
              <a:rPr sz="1200" b="0" i="0">
                <a:solidFill>
                  <a:srgbClr val="0B0B0B"/>
                </a:solidFill>
                <a:latin typeface="Calibri"/>
              </a:rPr>
              <a:t> gender should </a:t>
            </a:r>
            <a:r>
              <a:rPr sz="1200" b="1" i="0">
                <a:solidFill>
                  <a:srgbClr val="0B0B0B"/>
                </a:solidFill>
                <a:latin typeface="Calibri"/>
              </a:rPr>
              <a:t>never</a:t>
            </a:r>
            <a:r>
              <a:rPr sz="1200" b="0" i="0">
                <a:solidFill>
                  <a:srgbClr val="0B0B0B"/>
                </a:solidFill>
                <a:latin typeface="Calibri"/>
              </a:rPr>
              <a:t> be a feature in a credit model — it is indefensible to a regulator and to a customer, whatever it does for accuracy. But leaving it out is </a:t>
            </a:r>
            <a:r>
              <a:rPr sz="1200" b="1" i="0">
                <a:solidFill>
                  <a:srgbClr val="0B0B0B"/>
                </a:solidFill>
                <a:latin typeface="Calibri"/>
              </a:rPr>
              <a:t>necessary, not sufficient</a:t>
            </a:r>
            <a:r>
              <a:rPr sz="1200" b="0" i="0">
                <a:solidFill>
                  <a:srgbClr val="0B0B0B"/>
                </a:solidFill>
                <a:latin typeface="Calibri"/>
              </a:rPr>
              <a:t>: income and employment type are strong proxies, and a model built only on those can reproduce a gender gap without ever seeing the column.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39583"/>
            <a:ext cx="11057839" cy="1015496"/>
          </a:xfrm>
          <a:prstGeom prst="roundRect">
            <a:avLst>
              <a:gd name="adj" fmla="val 5000"/>
            </a:avLst>
          </a:prstGeom>
          <a:solidFill>
            <a:srgbClr val="E9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5339583"/>
            <a:ext cx="50292" cy="1015496"/>
          </a:xfrm>
          <a:prstGeom prst="rect">
            <a:avLst/>
          </a:prstGeom>
          <a:solidFill>
            <a:srgbClr val="1A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5458455"/>
            <a:ext cx="10692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1A8A3F"/>
                </a:solidFill>
                <a:latin typeface="Calibri"/>
              </a:rPr>
              <a:t>WHY THIS MATTERS TO THE BANK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5696199"/>
            <a:ext cx="10673791" cy="558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300" b="0" i="0">
                <a:solidFill>
                  <a:srgbClr val="3A3937"/>
                </a:solidFill>
                <a:latin typeface="Calibri"/>
              </a:rPr>
              <a:t>The bank can show a regulator a </a:t>
            </a:r>
            <a:r>
              <a:rPr sz="1300" b="1" i="0">
                <a:solidFill>
                  <a:srgbClr val="3A3937"/>
                </a:solidFill>
                <a:latin typeface="Calibri"/>
              </a:rPr>
              <a:t>measured answer instead of an assurance</a:t>
            </a:r>
            <a:r>
              <a:rPr sz="1300" b="0" i="0">
                <a:solidFill>
                  <a:srgbClr val="3A3937"/>
                </a:solidFill>
                <a:latin typeface="Calibri"/>
              </a:rPr>
              <a:t> — and it gets an early-warning system: report auto-decline rates by gender </a:t>
            </a:r>
            <a:r>
              <a:rPr sz="1300" b="1" i="0">
                <a:solidFill>
                  <a:srgbClr val="3A3937"/>
                </a:solidFill>
                <a:latin typeface="Calibri"/>
              </a:rPr>
              <a:t>every month</a:t>
            </a:r>
            <a:r>
              <a:rPr sz="1300" b="0" i="0">
                <a:solidFill>
                  <a:srgbClr val="3A3937"/>
                </a:solidFill>
                <a:latin typeface="Calibri"/>
              </a:rPr>
              <a:t>, and treat a widening gap as the trigger to review the threshold.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91695" cy="10972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6565392"/>
            <a:ext cx="7680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B5B3AC"/>
                </a:solidFill>
                <a:latin typeface="Calibri"/>
              </a:rPr>
              <a:t>Batch 9  ·  MUC02 Credit Pre-Screening Engine   ·   Nagothu Varshitha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27487" y="656539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B5B3AC"/>
                </a:solidFill>
                <a:latin typeface="Calibri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A78D6"/>
                </a:solidFill>
                <a:latin typeface="Calibri"/>
              </a:rPr>
              <a:t>THE BIG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What this is actually worth to the bank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88719"/>
            <a:ext cx="110578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6B6964"/>
                </a:solidFill>
                <a:latin typeface="Calibri"/>
              </a:rPr>
              <a:t>Five ways the pre-screener turns into money — three we measured, two the bank can now go and measure.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45919"/>
            <a:ext cx="1371600" cy="34747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883663"/>
            <a:ext cx="11057839" cy="621792"/>
          </a:xfrm>
          <a:prstGeom prst="roundRect">
            <a:avLst>
              <a:gd name="adj" fmla="val 4000"/>
            </a:avLst>
          </a:prstGeom>
          <a:solidFill>
            <a:srgbClr val="F4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883663"/>
            <a:ext cx="41148" cy="621792"/>
          </a:xfrm>
          <a:prstGeom prst="rect">
            <a:avLst/>
          </a:prstGeom>
          <a:solidFill>
            <a:srgbClr val="1A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011679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A8A3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938527"/>
            <a:ext cx="29260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Calibri"/>
              </a:rPr>
              <a:t>Capacity without hiring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33087" y="1920239"/>
            <a:ext cx="60743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1" i="0">
                <a:solidFill>
                  <a:srgbClr val="3A3937"/>
                </a:solidFill>
                <a:latin typeface="Calibri"/>
              </a:rPr>
              <a:t>190 hours a month = 2,280 hours a year ≈ 1.2 full-time analysts.</a:t>
            </a:r>
            <a:r>
              <a:rPr sz="1100" b="0" i="0">
                <a:solidFill>
                  <a:srgbClr val="3A3937"/>
                </a:solidFill>
                <a:latin typeface="Calibri"/>
              </a:rPr>
              <a:t> The unit can absorb about </a:t>
            </a:r>
            <a:r>
              <a:rPr sz="1100" b="1" i="0">
                <a:solidFill>
                  <a:srgbClr val="3A3937"/>
                </a:solidFill>
                <a:latin typeface="Calibri"/>
              </a:rPr>
              <a:t>15% more applications</a:t>
            </a:r>
            <a:r>
              <a:rPr sz="1100" b="0" i="0">
                <a:solidFill>
                  <a:srgbClr val="3A3937"/>
                </a:solidFill>
                <a:latin typeface="Calibri"/>
              </a:rPr>
              <a:t> with the team it already has.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98887" y="1938527"/>
            <a:ext cx="1188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1A8A3F"/>
                </a:solidFill>
                <a:latin typeface="Calibri"/>
              </a:rPr>
              <a:t>MEASURED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569463"/>
            <a:ext cx="11057839" cy="621792"/>
          </a:xfrm>
          <a:prstGeom prst="roundRect">
            <a:avLst>
              <a:gd name="adj" fmla="val 4000"/>
            </a:avLst>
          </a:prstGeom>
          <a:solidFill>
            <a:srgbClr val="F4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2569463"/>
            <a:ext cx="41148" cy="621792"/>
          </a:xfrm>
          <a:prstGeom prst="rect">
            <a:avLst/>
          </a:prstGeom>
          <a:solidFill>
            <a:srgbClr val="1A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2697479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A8A3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624327"/>
            <a:ext cx="29260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Calibri"/>
              </a:rPr>
              <a:t>Analyst time moves to where money is made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3087" y="2606039"/>
            <a:ext cx="60743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0" i="0">
                <a:solidFill>
                  <a:srgbClr val="3A3937"/>
                </a:solidFill>
                <a:latin typeface="Calibri"/>
              </a:rPr>
              <a:t>Those hours shift from obvious 'no's onto </a:t>
            </a:r>
            <a:r>
              <a:rPr sz="1100" b="1" i="0">
                <a:solidFill>
                  <a:srgbClr val="3A3937"/>
                </a:solidFill>
                <a:latin typeface="Calibri"/>
              </a:rPr>
              <a:t>borderline files — the ones where an approval is actually won or lost.</a:t>
            </a:r>
            <a:r>
              <a:rPr sz="1100" b="0" i="0">
                <a:solidFill>
                  <a:srgbClr val="3A3937"/>
                </a:solidFill>
                <a:latin typeface="Calibri"/>
              </a:rPr>
              <a:t> A clear decline earns the bank nothing.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98887" y="2624327"/>
            <a:ext cx="1188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1A8A3F"/>
                </a:solidFill>
                <a:latin typeface="Calibri"/>
              </a:rPr>
              <a:t>MEASURED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255263"/>
            <a:ext cx="11057839" cy="621792"/>
          </a:xfrm>
          <a:prstGeom prst="roundRect">
            <a:avLst>
              <a:gd name="adj" fmla="val 4000"/>
            </a:avLst>
          </a:prstGeom>
          <a:solidFill>
            <a:srgbClr val="F4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3255263"/>
            <a:ext cx="41148" cy="6217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3383279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2A78D6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310127"/>
            <a:ext cx="29260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Calibri"/>
              </a:rPr>
              <a:t>Good customers get answers faster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33087" y="3291839"/>
            <a:ext cx="60743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1" i="0">
                <a:solidFill>
                  <a:srgbClr val="3A3937"/>
                </a:solidFill>
                <a:latin typeface="Calibri"/>
              </a:rPr>
              <a:t>456 files leave the queue every month</a:t>
            </a:r>
            <a:r>
              <a:rPr sz="1100" b="0" i="0">
                <a:solidFill>
                  <a:srgbClr val="3A3937"/>
                </a:solidFill>
                <a:latin typeface="Calibri"/>
              </a:rPr>
              <a:t>, so everyone behind them moves up. Fewer applicants give up and go to a competitor while waiting.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98887" y="3310127"/>
            <a:ext cx="1188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2A78D6"/>
                </a:solidFill>
                <a:latin typeface="Calibri"/>
              </a:rPr>
              <a:t>MEASURED VOLUME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3941063"/>
            <a:ext cx="11057839" cy="621792"/>
          </a:xfrm>
          <a:prstGeom prst="roundRect">
            <a:avLst>
              <a:gd name="adj" fmla="val 4000"/>
            </a:avLst>
          </a:prstGeom>
          <a:solidFill>
            <a:srgbClr val="F4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3941063"/>
            <a:ext cx="41148" cy="6217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4069079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2A78D6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3995927"/>
            <a:ext cx="29260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Calibri"/>
              </a:rPr>
              <a:t>One consistent, written credit policy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33087" y="3977639"/>
            <a:ext cx="60743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0" i="0">
                <a:solidFill>
                  <a:srgbClr val="3A3937"/>
                </a:solidFill>
                <a:latin typeface="Calibri"/>
              </a:rPr>
              <a:t>A </a:t>
            </a:r>
            <a:r>
              <a:rPr sz="1100" b="1" i="0">
                <a:solidFill>
                  <a:srgbClr val="3A3937"/>
                </a:solidFill>
                <a:latin typeface="Calibri"/>
              </a:rPr>
              <a:t>50% FOIR limit</a:t>
            </a:r>
            <a:r>
              <a:rPr sz="1100" b="0" i="0">
                <a:solidFill>
                  <a:srgbClr val="3A3937"/>
                </a:solidFill>
                <a:latin typeface="Calibri"/>
              </a:rPr>
              <a:t> applied the same way by every analyst, every day — less inconsistency, fewer over-leveraged loans written by accident.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98887" y="3995927"/>
            <a:ext cx="1188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2A78D6"/>
                </a:solidFill>
                <a:latin typeface="Calibri"/>
              </a:rPr>
              <a:t>POLICY GAIN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4626864"/>
            <a:ext cx="11057839" cy="621792"/>
          </a:xfrm>
          <a:prstGeom prst="roundRect">
            <a:avLst>
              <a:gd name="adj" fmla="val 4000"/>
            </a:avLst>
          </a:prstGeom>
          <a:solidFill>
            <a:srgbClr val="F4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4626864"/>
            <a:ext cx="41148" cy="6217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" y="4754879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2A78D6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4681727"/>
            <a:ext cx="29260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Calibri"/>
              </a:rPr>
              <a:t>Protecting tomorrow's customers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33087" y="4663440"/>
            <a:ext cx="60743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00" b="0" i="0">
                <a:solidFill>
                  <a:srgbClr val="3A3937"/>
                </a:solidFill>
                <a:latin typeface="Calibri"/>
              </a:rPr>
              <a:t>The new-to-credit carve-out saves about </a:t>
            </a:r>
            <a:r>
              <a:rPr sz="1100" b="1" i="0">
                <a:solidFill>
                  <a:srgbClr val="3A3937"/>
                </a:solidFill>
                <a:latin typeface="Calibri"/>
              </a:rPr>
              <a:t>6 young first-time borrowers a month</a:t>
            </a:r>
            <a:r>
              <a:rPr sz="1100" b="0" i="0">
                <a:solidFill>
                  <a:srgbClr val="3A3937"/>
                </a:solidFill>
                <a:latin typeface="Calibri"/>
              </a:rPr>
              <a:t> from a wrong machine rejection. These are the longest-lifetime customers the bank has.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98887" y="4681727"/>
            <a:ext cx="1188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2A78D6"/>
                </a:solidFill>
                <a:latin typeface="Calibri"/>
              </a:rPr>
              <a:t>RISK AVOIDED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5142439"/>
            <a:ext cx="11057839" cy="1212640"/>
          </a:xfrm>
          <a:prstGeom prst="roundRect">
            <a:avLst>
              <a:gd name="adj" fmla="val 5000"/>
            </a:avLst>
          </a:prstGeom>
          <a:solidFill>
            <a:srgbClr val="FF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6928" y="5142439"/>
            <a:ext cx="50292" cy="1212640"/>
          </a:xfrm>
          <a:prstGeom prst="rect">
            <a:avLst/>
          </a:prstGeom>
          <a:solidFill>
            <a:srgbClr val="B87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8096" y="5261311"/>
            <a:ext cx="10692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B87D0A"/>
                </a:solidFill>
                <a:latin typeface="Calibri"/>
              </a:rPr>
              <a:t>PUTTING A NUMBER ON IT — WITH ONE ASSUMPTION STATED OUT LOUD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" y="5499055"/>
            <a:ext cx="10673791" cy="755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00" b="1" i="0">
                <a:solidFill>
                  <a:srgbClr val="3A3937"/>
                </a:solidFill>
                <a:latin typeface="Calibri"/>
              </a:rPr>
              <a:t>2,280 analyst hours a year.</a:t>
            </a:r>
            <a:r>
              <a:rPr sz="1200" b="0" i="0">
                <a:solidFill>
                  <a:srgbClr val="3A3937"/>
                </a:solidFill>
                <a:latin typeface="Calibri"/>
              </a:rPr>
              <a:t> At an assumed fully-loaded analyst cost of ₹500 an hour, that is roughly </a:t>
            </a:r>
            <a:r>
              <a:rPr sz="1200" b="1" i="0">
                <a:solidFill>
                  <a:srgbClr val="3A3937"/>
                </a:solidFill>
                <a:latin typeface="Calibri"/>
              </a:rPr>
              <a:t>₹11.4 lakh a year of capacity released</a:t>
            </a:r>
            <a:r>
              <a:rPr sz="1200" b="0" i="0">
                <a:solidFill>
                  <a:srgbClr val="3A3937"/>
                </a:solidFill>
                <a:latin typeface="Calibri"/>
              </a:rPr>
              <a:t> — before counting a single rupee from faster decisions or recovered gig-worker applications.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200" b="1" i="0">
                <a:solidFill>
                  <a:srgbClr val="3A3937"/>
                </a:solidFill>
                <a:latin typeface="Calibri"/>
              </a:rPr>
              <a:t>₹500/hour is our assumption, not the bank's figure.</a:t>
            </a:r>
            <a:r>
              <a:rPr sz="1200" b="0" i="0">
                <a:solidFill>
                  <a:srgbClr val="3A3937"/>
                </a:solidFill>
                <a:latin typeface="Calibri"/>
              </a:rPr>
              <a:t> The hours are ours; the rate has to come from Finance.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492240"/>
            <a:ext cx="12191695" cy="10972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" y="6565392"/>
            <a:ext cx="7680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B5B3AC"/>
                </a:solidFill>
                <a:latin typeface="Calibri"/>
              </a:rPr>
              <a:t>Batch 9  ·  MUC02 Credit Pre-Screening Engine   ·   Nagothu Varshitha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27487" y="656539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B5B3AC"/>
                </a:solidFill>
                <a:latin typeface="Calibri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A78D6"/>
                </a:solidFill>
                <a:latin typeface="Calibri"/>
              </a:rPr>
              <a:t>OWNED BY VARSHITHA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What we recommend the bank does — in this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43584"/>
            <a:ext cx="1371600" cy="34747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481328"/>
            <a:ext cx="11057839" cy="585216"/>
          </a:xfrm>
          <a:prstGeom prst="roundRect">
            <a:avLst>
              <a:gd name="adj" fmla="val 4000"/>
            </a:avLst>
          </a:prstGeom>
          <a:solidFill>
            <a:srgbClr val="F4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1627631"/>
            <a:ext cx="292608" cy="29260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68780"/>
            <a:ext cx="2926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CFCFB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" y="1517904"/>
            <a:ext cx="31089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Calibri"/>
              </a:rPr>
              <a:t>Shadow-run it for one month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0832" y="1517904"/>
            <a:ext cx="607435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 i="0">
                <a:solidFill>
                  <a:srgbClr val="3A3937"/>
                </a:solidFill>
                <a:latin typeface="Calibri"/>
              </a:rPr>
              <a:t>Score live applications and record what the model </a:t>
            </a:r>
            <a:r>
              <a:rPr sz="1050" b="1" i="0">
                <a:solidFill>
                  <a:srgbClr val="3A3937"/>
                </a:solidFill>
                <a:latin typeface="Calibri"/>
              </a:rPr>
              <a:t>would</a:t>
            </a:r>
            <a:r>
              <a:rPr sz="1050" b="0" i="0">
                <a:solidFill>
                  <a:srgbClr val="3A3937"/>
                </a:solidFill>
                <a:latin typeface="Calibri"/>
              </a:rPr>
              <a:t> have done — without acting on it. Compare against the analysts' real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27487" y="1517904"/>
            <a:ext cx="9601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1D5AA8"/>
                </a:solidFill>
                <a:latin typeface="Calibri"/>
              </a:rPr>
              <a:t>Month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112263"/>
            <a:ext cx="11057839" cy="585216"/>
          </a:xfrm>
          <a:prstGeom prst="roundRect">
            <a:avLst>
              <a:gd name="adj" fmla="val 4000"/>
            </a:avLst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2258568"/>
            <a:ext cx="292608" cy="29260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299715"/>
            <a:ext cx="2926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CFCFB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" y="2148839"/>
            <a:ext cx="31089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Calibri"/>
              </a:rPr>
              <a:t>Launch at 0.90, with the carve-out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0832" y="2148839"/>
            <a:ext cx="607435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 i="0">
                <a:solidFill>
                  <a:srgbClr val="3A3937"/>
                </a:solidFill>
                <a:latin typeface="Calibri"/>
              </a:rPr>
              <a:t>Auto-decline at 0.90, and </a:t>
            </a:r>
            <a:r>
              <a:rPr sz="1050" b="1" i="0">
                <a:solidFill>
                  <a:srgbClr val="3A3937"/>
                </a:solidFill>
                <a:latin typeface="Calibri"/>
              </a:rPr>
              <a:t>never</a:t>
            </a:r>
            <a:r>
              <a:rPr sz="1050" b="0" i="0">
                <a:solidFill>
                  <a:srgbClr val="3A3937"/>
                </a:solidFill>
                <a:latin typeface="Calibri"/>
              </a:rPr>
              <a:t> auto-decline an applicant with no credit history. Move to Design B at 0.88 once the shadow month confirms the rates.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27487" y="2148839"/>
            <a:ext cx="9601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1D5AA8"/>
                </a:solidFill>
                <a:latin typeface="Calibri"/>
              </a:rPr>
              <a:t>Month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2743199"/>
            <a:ext cx="11057839" cy="585216"/>
          </a:xfrm>
          <a:prstGeom prst="roundRect">
            <a:avLst>
              <a:gd name="adj" fmla="val 4000"/>
            </a:avLst>
          </a:prstGeom>
          <a:solidFill>
            <a:srgbClr val="F4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1520" y="2889503"/>
            <a:ext cx="292608" cy="29260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930651"/>
            <a:ext cx="2926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CFCFB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" y="2779775"/>
            <a:ext cx="31089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Calibri"/>
              </a:rPr>
              <a:t>Write the FOIR limit into policy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0832" y="2779775"/>
            <a:ext cx="607435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 i="0">
                <a:solidFill>
                  <a:srgbClr val="3A3937"/>
                </a:solidFill>
                <a:latin typeface="Calibri"/>
              </a:rPr>
              <a:t>50% limit, 50–55% a referral band, above 55% a decline unless justified. The bank's own history already supports 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27487" y="2779775"/>
            <a:ext cx="9601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1D5AA8"/>
                </a:solidFill>
                <a:latin typeface="Calibri"/>
              </a:rPr>
              <a:t>Month 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374135"/>
            <a:ext cx="11057839" cy="585216"/>
          </a:xfrm>
          <a:prstGeom prst="roundRect">
            <a:avLst>
              <a:gd name="adj" fmla="val 4000"/>
            </a:avLst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3520439"/>
            <a:ext cx="292608" cy="29260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561587"/>
            <a:ext cx="2926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CFCFB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144" y="3410711"/>
            <a:ext cx="31089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Calibri"/>
              </a:rPr>
              <a:t>Start capturing repayment outcomes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0832" y="3410711"/>
            <a:ext cx="607435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 i="0">
                <a:solidFill>
                  <a:srgbClr val="3A3937"/>
                </a:solidFill>
                <a:latin typeface="Calibri"/>
              </a:rPr>
              <a:t>Today we only know who was approved, not who repaid. This is the single biggest upgrade available to the next version.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27487" y="3410711"/>
            <a:ext cx="9601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1D5AA8"/>
                </a:solidFill>
                <a:latin typeface="Calibri"/>
              </a:rPr>
              <a:t>From day 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005071"/>
            <a:ext cx="11057839" cy="585216"/>
          </a:xfrm>
          <a:prstGeom prst="roundRect">
            <a:avLst>
              <a:gd name="adj" fmla="val 4000"/>
            </a:avLst>
          </a:prstGeom>
          <a:solidFill>
            <a:srgbClr val="F4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1520" y="4151375"/>
            <a:ext cx="292608" cy="29260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192523"/>
            <a:ext cx="2926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CFCFB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2144" y="4041647"/>
            <a:ext cx="31089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Calibri"/>
              </a:rPr>
              <a:t>Stand up monthly monitoring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70832" y="4041647"/>
            <a:ext cx="607435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 i="0">
                <a:solidFill>
                  <a:srgbClr val="3A3937"/>
                </a:solidFill>
                <a:latin typeface="Calibri"/>
              </a:rPr>
              <a:t>Auto-decline rate and wrong-decline rate, overall </a:t>
            </a:r>
            <a:r>
              <a:rPr sz="1050" b="1" i="0">
                <a:solidFill>
                  <a:srgbClr val="3A3937"/>
                </a:solidFill>
                <a:latin typeface="Calibri"/>
              </a:rPr>
              <a:t>and by gender</a:t>
            </a:r>
            <a:r>
              <a:rPr sz="1050" b="0" i="0">
                <a:solidFill>
                  <a:srgbClr val="3A3937"/>
                </a:solidFill>
                <a:latin typeface="Calibri"/>
              </a:rPr>
              <a:t>, with a written trigger to review the threshold.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27487" y="4041647"/>
            <a:ext cx="9601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1D5AA8"/>
                </a:solidFill>
                <a:latin typeface="Calibri"/>
              </a:rPr>
              <a:t>Ongoing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4636007"/>
            <a:ext cx="11057839" cy="585216"/>
          </a:xfrm>
          <a:prstGeom prst="roundRect">
            <a:avLst>
              <a:gd name="adj" fmla="val 4000"/>
            </a:avLst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31520" y="4782311"/>
            <a:ext cx="292608" cy="29260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4823459"/>
            <a:ext cx="2926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FCFCFB"/>
                </a:solidFill>
                <a:latin typeface="Calibri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52144" y="4672583"/>
            <a:ext cx="31089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0B0B0B"/>
                </a:solidFill>
                <a:latin typeface="Calibri"/>
              </a:rPr>
              <a:t>Recalibrate every quarter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70832" y="4672583"/>
            <a:ext cx="607435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 i="0">
                <a:solidFill>
                  <a:srgbClr val="3A3937"/>
                </a:solidFill>
                <a:latin typeface="Calibri"/>
              </a:rPr>
              <a:t>The threshold is estimated from 2,400 test applications and the credit policy itself will drift. Re-fit and re-choose quarterly.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27487" y="4672583"/>
            <a:ext cx="9601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1D5AA8"/>
                </a:solidFill>
                <a:latin typeface="Calibri"/>
              </a:rPr>
              <a:t>Quarterly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6928" y="5339583"/>
            <a:ext cx="11057839" cy="1015496"/>
          </a:xfrm>
          <a:prstGeom prst="roundRect">
            <a:avLst>
              <a:gd name="adj" fmla="val 5000"/>
            </a:avLst>
          </a:prstGeom>
          <a:solidFill>
            <a:srgbClr val="E9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66928" y="5339583"/>
            <a:ext cx="50292" cy="1015496"/>
          </a:xfrm>
          <a:prstGeom prst="rect">
            <a:avLst/>
          </a:prstGeom>
          <a:solidFill>
            <a:srgbClr val="1A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8096" y="5458455"/>
            <a:ext cx="10692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1A8A3F"/>
                </a:solidFill>
                <a:latin typeface="Calibri"/>
              </a:rPr>
              <a:t>WHY THIS MATTERS TO THE BANK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8096" y="5696199"/>
            <a:ext cx="10673791" cy="558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300" b="1" i="0">
                <a:solidFill>
                  <a:srgbClr val="3A3937"/>
                </a:solidFill>
                <a:latin typeface="Calibri"/>
              </a:rPr>
              <a:t>The ask is small and the exit is easy.</a:t>
            </a:r>
            <a:r>
              <a:rPr sz="1300" b="0" i="0">
                <a:solidFill>
                  <a:srgbClr val="3A3937"/>
                </a:solidFill>
                <a:latin typeface="Calibri"/>
              </a:rPr>
              <a:t> A shadow month costs nothing and can be stopped at any point. If the numbers hold, the bank gets 190 hours a month back; if they do not, nobody was ever auto-declined.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492240"/>
            <a:ext cx="12191695" cy="10972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6928" y="6565392"/>
            <a:ext cx="7680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B5B3AC"/>
                </a:solidFill>
                <a:latin typeface="Calibri"/>
              </a:rPr>
              <a:t>Batch 9  ·  MUC02 Credit Pre-Screening Engine   ·   Nagothu Varshitha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27487" y="656539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B5B3AC"/>
                </a:solidFill>
                <a:latin typeface="Calibri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A78D6"/>
                </a:solidFill>
                <a:latin typeface="Calibri"/>
              </a:rPr>
              <a:t>HONEST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578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700" b="1" i="0">
                <a:solidFill>
                  <a:srgbClr val="0B0B0B"/>
                </a:solidFill>
                <a:latin typeface="Calibri"/>
              </a:rPr>
              <a:t>What we would want before this goes live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43584"/>
            <a:ext cx="1371600" cy="34747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6B6964"/>
                </a:solidFill>
                <a:latin typeface="Calibri"/>
              </a:rPr>
              <a:t>The four things we would raise ourselves if we were sitting on the other side of the 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11057839" cy="749808"/>
          </a:xfrm>
          <a:prstGeom prst="roundRect">
            <a:avLst>
              <a:gd name="adj" fmla="val 4000"/>
            </a:avLst>
          </a:prstGeom>
          <a:solidFill>
            <a:srgbClr val="F4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828800"/>
            <a:ext cx="41148" cy="749808"/>
          </a:xfrm>
          <a:prstGeom prst="rect">
            <a:avLst/>
          </a:prstGeom>
          <a:solidFill>
            <a:srgbClr val="B87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20240"/>
            <a:ext cx="106006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B0B0B"/>
                </a:solidFill>
                <a:latin typeface="Calibri"/>
              </a:rPr>
              <a:t>The target is a human decision, not repayment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176272"/>
            <a:ext cx="1058235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50" b="0" i="0">
                <a:solidFill>
                  <a:srgbClr val="3A3937"/>
                </a:solidFill>
                <a:latin typeface="Calibri"/>
              </a:rPr>
              <a:t>The model learns to copy past analyst judgement. “4.7% wrong” means “4.7% disagreed with an analyst” — </a:t>
            </a:r>
            <a:r>
              <a:rPr sz="1150" b="1" i="0">
                <a:solidFill>
                  <a:srgbClr val="3A3937"/>
                </a:solidFill>
                <a:latin typeface="Calibri"/>
              </a:rPr>
              <a:t>not</a:t>
            </a:r>
            <a:r>
              <a:rPr sz="1150" b="0" i="0">
                <a:solidFill>
                  <a:srgbClr val="3A3937"/>
                </a:solidFill>
                <a:latin typeface="Calibri"/>
              </a:rPr>
              <a:t> “4.7% were good credit risks.” This is the deepest limitation in the whole analysis.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1760"/>
            <a:ext cx="11057839" cy="749808"/>
          </a:xfrm>
          <a:prstGeom prst="roundRect">
            <a:avLst>
              <a:gd name="adj" fmla="val 4000"/>
            </a:avLst>
          </a:prstGeom>
          <a:solidFill>
            <a:srgbClr val="F4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2651760"/>
            <a:ext cx="41148" cy="749808"/>
          </a:xfrm>
          <a:prstGeom prst="rect">
            <a:avLst/>
          </a:prstGeom>
          <a:solidFill>
            <a:srgbClr val="B87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743200"/>
            <a:ext cx="106006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B0B0B"/>
                </a:solidFill>
                <a:latin typeface="Calibri"/>
              </a:rPr>
              <a:t>The threshold is estimated from 2,400 applications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999232"/>
            <a:ext cx="1058235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50" b="0" i="0">
                <a:solidFill>
                  <a:srgbClr val="3A3937"/>
                </a:solidFill>
                <a:latin typeface="Calibri"/>
              </a:rPr>
              <a:t>4.7% carries sampling error. At ~456 auto-declines a month, expect real month-to-month movement — which is why we recommend recalibrating quarterly.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74720"/>
            <a:ext cx="11057839" cy="749808"/>
          </a:xfrm>
          <a:prstGeom prst="roundRect">
            <a:avLst>
              <a:gd name="adj" fmla="val 4000"/>
            </a:avLst>
          </a:prstGeom>
          <a:solidFill>
            <a:srgbClr val="F4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474720"/>
            <a:ext cx="41148" cy="749808"/>
          </a:xfrm>
          <a:prstGeom prst="rect">
            <a:avLst/>
          </a:prstGeom>
          <a:solidFill>
            <a:srgbClr val="B87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566160"/>
            <a:ext cx="106006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B0B0B"/>
                </a:solidFill>
                <a:latin typeface="Calibri"/>
              </a:rPr>
              <a:t>Our own cleaning choices move the answer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3822191"/>
            <a:ext cx="1058235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50" b="0" i="0">
                <a:solidFill>
                  <a:srgbClr val="3A3937"/>
                </a:solidFill>
                <a:latin typeface="Calibri"/>
              </a:rPr>
              <a:t>Under different but equally defensible handling of 453 rows, the recommended threshold moves between </a:t>
            </a:r>
            <a:r>
              <a:rPr sz="1150" b="1" i="0">
                <a:solidFill>
                  <a:srgbClr val="3A3937"/>
                </a:solidFill>
                <a:latin typeface="Calibri"/>
              </a:rPr>
              <a:t>0.85 and 0.90</a:t>
            </a:r>
            <a:r>
              <a:rPr sz="1150" b="0" i="0">
                <a:solidFill>
                  <a:srgbClr val="3A3937"/>
                </a:solidFill>
                <a:latin typeface="Calibri"/>
              </a:rPr>
              <a:t> — about 160 applications and 65 analyst hours a month. The cleaning log is the audit trail.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297680"/>
            <a:ext cx="11057839" cy="749808"/>
          </a:xfrm>
          <a:prstGeom prst="roundRect">
            <a:avLst>
              <a:gd name="adj" fmla="val 4000"/>
            </a:avLst>
          </a:prstGeom>
          <a:solidFill>
            <a:srgbClr val="F4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4297680"/>
            <a:ext cx="41148" cy="749808"/>
          </a:xfrm>
          <a:prstGeom prst="rect">
            <a:avLst/>
          </a:prstGeom>
          <a:solidFill>
            <a:srgbClr val="B87D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4389120"/>
            <a:ext cx="106006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0B0B0B"/>
                </a:solidFill>
                <a:latin typeface="Calibri"/>
              </a:rPr>
              <a:t>A model is only as current as the policy it learned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4645152"/>
            <a:ext cx="1058235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150" b="0" i="0">
                <a:solidFill>
                  <a:srgbClr val="3A3937"/>
                </a:solidFill>
                <a:latin typeface="Calibri"/>
              </a:rPr>
              <a:t>If the credit team changes how it lends, the model keeps applying the old policy until someone retrains it.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827007"/>
            <a:ext cx="11057839" cy="1528072"/>
          </a:xfrm>
          <a:prstGeom prst="roundRect">
            <a:avLst>
              <a:gd name="adj" fmla="val 5000"/>
            </a:avLst>
          </a:prstGeom>
          <a:solidFill>
            <a:srgbClr val="E8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4827007"/>
            <a:ext cx="50292" cy="152807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4945879"/>
            <a:ext cx="10692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2A78D6"/>
                </a:solidFill>
                <a:latin typeface="Calibri"/>
              </a:rPr>
              <a:t>WHERE WE LAND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5183623"/>
            <a:ext cx="10673791" cy="1070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300" b="1" i="0">
                <a:solidFill>
                  <a:srgbClr val="3A3937"/>
                </a:solidFill>
                <a:latin typeface="Calibri"/>
              </a:rPr>
              <a:t>Our recommendation in one line:</a:t>
            </a:r>
            <a:r>
              <a:rPr sz="1300" b="0" i="0">
                <a:solidFill>
                  <a:srgbClr val="3A3937"/>
                </a:solidFill>
                <a:latin typeface="Calibri"/>
              </a:rPr>
              <a:t> auto-decline at 0.90, never auto-decline someone with no credit history, and shadow-run it for a month first. That frees about </a:t>
            </a:r>
            <a:r>
              <a:rPr sz="1300" b="1" i="0">
                <a:solidFill>
                  <a:srgbClr val="3A3937"/>
                </a:solidFill>
                <a:latin typeface="Calibri"/>
              </a:rPr>
              <a:t>190 analyst hours a month</a:t>
            </a:r>
            <a:r>
              <a:rPr sz="1300" b="0" i="0">
                <a:solidFill>
                  <a:srgbClr val="3A3937"/>
                </a:solidFill>
                <a:latin typeface="Calibri"/>
              </a:rPr>
              <a:t> at a wrong-decline rate of </a:t>
            </a:r>
            <a:r>
              <a:rPr sz="1300" b="1" i="0">
                <a:solidFill>
                  <a:srgbClr val="3A3937"/>
                </a:solidFill>
                <a:latin typeface="Calibri"/>
              </a:rPr>
              <a:t>4.7%</a:t>
            </a:r>
            <a:r>
              <a:rPr sz="1300" b="0" i="0">
                <a:solidFill>
                  <a:srgbClr val="3A3937"/>
                </a:solidFill>
                <a:latin typeface="Calibri"/>
              </a:rPr>
              <a:t> — inside the limit the bank set itself.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300" b="0" i="0">
                <a:solidFill>
                  <a:srgbClr val="3A3937"/>
                </a:solidFill>
                <a:latin typeface="Calibri"/>
              </a:rPr>
              <a:t>Thank you.  ·  Questions welcome.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92240"/>
            <a:ext cx="12191695" cy="10972"/>
          </a:xfrm>
          <a:prstGeom prst="rect">
            <a:avLst/>
          </a:prstGeom>
          <a:solidFill>
            <a:srgbClr val="E6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6565392"/>
            <a:ext cx="7680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B5B3AC"/>
                </a:solidFill>
                <a:latin typeface="Calibri"/>
              </a:rPr>
              <a:t>Batch 9  ·  MUC02 Credit Pre-Screening Engine   ·   Nagothu Varshitha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27487" y="656539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B5B3AC"/>
                </a:solidFill>
                <a:latin typeface="Calibri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